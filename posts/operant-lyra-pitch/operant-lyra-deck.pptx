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 set the frame in two sentences, then stop.
Say: 'Today every coding agent assumes a human sits at the centre, holding the plan and pushing each thread forward. Operant inverts that — you delegate the delivery, and the harness drives the work and comes to you only for the calls that need a human.' Land on the tagline: delivery, delegated.
This is a proposal for Lyra specifically — a per-seat productivity tool for their forward-deployed engineers — and the same story doubles as the investor narrative.
—— DEFINITIONS (for Q&amp;A) ——
• Delegation layer: not a smarter model — a contract. The system commits to a process, proves its work, and respects your attention.
• Forward-deployed engineer: an engineer placed inside a client's team to build alongside them on the delivery firm's contract. At Lyra, each typically carries two or three client projects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INVERSION — this is the whole idea in one picture.
Say: 'A single capable agent is fine for one task. It collapses across six. The moment your attention moves, the loops you left running go quiet and wait — politely, indefinitely.' Point left.
'Operant moves the centre of gravity. You set the plan, the people and the rules once; after that the harness owns the choreography and chases the humans, not the other way around.' Point right.
—— DEFINITIONS (for Q&amp;A) ——
• Loop: a single ongoing task — a feature, a fix, a deploy — with its own state and its own next step. People run several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ELEVATOR PITCH — read these three as a promise, not a feature list.
Say: 'Operant runs the work, proves every change, and chases the humans. That triad is the contract. The browser channel, the voice channel — those are how it reaches you, not what it is.'
Keep this slide tight; it sets up the four differentiators that follow.
—— DEFINITIONS (for Q&amp;A) ——
• Why 'proves': delivery is run by scoped agents — a builder, a maintainer, and a verifier that audits the result and attaches evidence before anything is surfaced for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 01 — chasing is the product.
Tell the 4 p.m. story as a story; people recognise it instantly. Then make the distinction sharp: a single notification that gets ignored is not coordination. Chasing means routing across channels and re-pinging on a timer until a human acts or explicitly defers.
This is also the honest answer to 'won't Claude just do this?' — Claude can notify; it does not own the loop and persistently come back for it.
—— DEFINITIONS (for Q&amp;A) ——
• Decision gate: a point in the pipeline where the harness needs a human call before it proceeds. Each gate routes across channels and escalates on a timer, so a missed message is retried and re-routed rather than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 02 — this is where credibility lives. It is engineered infrastructure, not a clever prompt.
Say: 'The process is a hardcoded state machine with file-based, crash-resumable state. If a machine dies mid-run, it resumes — nothing is lost. And because state lives in a durable record, any new session resumes in four words: read status, then continue.'
The punchline for technical buyers: strip the AI out entirely and a complete, deterministic delivery pipeline remains. The model rides on top of it.
—— DEFINITIONS (for Q&amp;A) ——
• Deterministic state machine: a process engine with defined states and transitions written in ordinary code, not decided by the model run-to-run. Predictable, testable, auditable.
• The status record: a coherent, always-current file of plans, dependencies and next actions — query and coordination state treated as a first-class, governed memory object rather than something trapped inside one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 03 — for a delivery firm, this is the one that closes. Quality has to travel with every project.
Say: 'You never get I-think-it's-done. A builder makes the change, a maintainer keeps it consistent, and a verifier audits the result and attaches the evidence. What lands in front of a human is proof plus a one-tap approval.'
For Lyra: this is a verified-by-default quality bar across fifty client projects, not per-engineer diligence you have to hope for.
—— DEFINITIONS (for Q&amp;A) ——
• Verifier: a dedicated checking role (plus visual auditors) that inspects the work and produces evidence — a passing test, a screenshot — before anything is surfaced for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SHOWPIECE — slow down here. This is the moat the platform giants won't copy.
Say: 'Ask any standard agent to log into a client dashboard as you, and it hits a wall — a headless browser the site detects, a CAPTCHA, a user-agent block, or a flat refusal. Operant connects over a debug port to the everyday Chrome the engineer already uses. To the website, it is simply a person at their own machine. And because the browser is visible, a card check or one-time login becomes a quick hand-off, not a dead end.'
Why incumbents stay away: operating a user's own logged-in browser to act as them sits in a security/terms grey zone a large vendor is reluctant to officially bless — a focused company can own it deliberately.
—— DEFINITIONS (for Q&amp;A) ——
• Headless browser: a browser with no visible window, driven by automation — invisible to the operator and easy for sites to detect and block.
• User agent: the signature a browser sends identifying what it is; automation tools send a tell-tale one that many sites block.
• CAPTCHA: the 'prove you're human' challenge, designed to stop exactly this kind of automated browser.
• Debug port (Chrome DevTools Protocol): a control channel a real Chrome can expose so a program drives the actual browser you use — your windows, your logged-in sessions.
• Connector (MCP): a small adapter built on the Model Context Protocol giving the harness a controlled way to use the real browser — here, the team's own 'mybrowser'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DEFENSIBILITY — answer the 'won't the labs eat this?' question head-on.
Say: 'The labs build engines — the models. We build the harness the model runs inside. Three layers, all of them ordinary product engineering: a deterministic process, an interface that runs on the user's own devices, and orchestration that verifies and compounds. The model improving only makes that orchestration layer stronger — we ride the wave, we don't fight it.'
Then the Lyra-specific kicker on the dark strip: it's not that they can't, it's that the economics and the grey zone make it structurally unattractive for a giant.
—— DEFINITIONS (for Q&amp;A) ——
• Low-egress: sensitive data stays on the user's device; as little as possible crosses the network — easier to meet strict client security and data-residency terms.
• Delivery memory / codification flywheel: a workaround proven once becomes reusable procedure shared across seats, so the system improves the more the team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 short and confident. Don't oversell the dollar figure; lead with the fact of paying customers and a real pilot.
For an enterprise buyer like Lyra, 'four paying companies and a five-figure pilot' matters more than the exact revenue. The point is: this works in production, with verified outcomes.
&gt;&gt;&gt; PRESENTER ACTION: confirm these numbers are current before the meeting. They were accurate as of our earlier materials; update the count and pilot figure to today's reality, or soften to 'paying customers + an enterprise pilot' if any are in flux.
—— DEFINITIONS (for Q&amp;A) ——
• Pilot: a paid, time-boxed first engagement that proves the pipeline on the customer's real work before broader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LYRA CASE — connect the product to the invoice.
Say: 'Lyra's engineers don't run one project at a time — most carry two or three. The cost of that context-switching is exactly what a coordinator absorbs: the harness keeps every thread alive while attention moves. Priced per seat, against the engineer's time rather than infrastructure, even a conservative reduction in idle and re-orientation time clears the price comfortably.'
Be honest that the precise multiplier is set against Lyra's own baselines during the partnership — don't claim a hard speedup number you can't defend.
—— DEFINITIONS (for Q&amp;A) ——
• Per-seat pricing: a licence per engineer using the tool — the value frame is the engineer's loaded cost, which is why even modest time savings pay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 meet the objection directly; it's the one Lyra will raise.
Say: 'Fifty projects is genuinely diverse, and no tool works identically across all of them untouched. Our answer is to refuse to boil the ocean and instead bake in the two fat heads — web and mobile — generically. Almost every project lives in at least one of those. What remains per project is configuration, not engineering: declaring permissions, profiles and rules, not building new plumbing.'
That distinction — config vs. engineering — is what makes it scale across a portfolio instead of needing a specialist per engagement.
—— DEFINITIONS (for Q&amp;A) ——
• Fat heads: the handful of use cases that account for the bulk of real work, as opposed to the long tail of rare, bespoke ones. Cover the fat heads and you cover most projects without custom engineering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 close on the partnership, not a sale. Make it small and concrete so it's easy to say yes to.
Say: 'We don't want to drop a tool over the wall and hope. Give us a handful of seats and two or three live projects, and a short window to tune the harness to your actual portfolio. You get engineers who stop babysitting agents and start shipping through them.'
End on the vision line — the destination is a delivery org where human attention is spent on judgment and everything downstream of a decision simply happens. Then stop talking.
—— DEFINITIONS (for Q&amp;A) ——
• Design partnership: a structured early engagement where the customer's real work shapes the product, usually at preferential terms, in exchange for close collaboration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0"/>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OPERANT</a:t>
            </a:r>
            <a:pPr algn="l" indent="0" marL="0">
              <a:buNone/>
            </a:pPr>
            <a:r>
              <a:rPr lang="en-US" sz="1100" dirty="0">
                <a:solidFill>
                  <a:srgbClr val="3A434C"/>
                </a:solidFill>
                <a:latin typeface="Calibri" pitchFamily="34" charset="0"/>
                <a:ea typeface="Calibri" pitchFamily="34" charset="-122"/>
                <a:cs typeface="Calibri" pitchFamily="34" charset="-120"/>
              </a:rPr>
              <a:t>   /   </a:t>
            </a:r>
            <a:pPr algn="l" indent="0" marL="0">
              <a:buNone/>
            </a:pPr>
            <a:r>
              <a:rPr lang="en-US" sz="1300" i="1" dirty="0">
                <a:solidFill>
                  <a:srgbClr val="DE560E"/>
                </a:solidFill>
                <a:latin typeface="Cambria" pitchFamily="34" charset="0"/>
                <a:ea typeface="Cambria" pitchFamily="34" charset="-122"/>
                <a:cs typeface="Cambria" pitchFamily="34" charset="-120"/>
              </a:rPr>
              <a:t>delivery, delegated</a:t>
            </a:r>
            <a:pPr algn="l" indent="0" marL="0">
              <a:buNone/>
            </a:pPr>
            <a:r>
              <a:rPr lang="en-US" sz="1100" dirty="0">
                <a:solidFill>
                  <a:srgbClr val="1C9356"/>
                </a:solidFill>
                <a:latin typeface="Calibri" pitchFamily="34" charset="0"/>
                <a:ea typeface="Calibri" pitchFamily="34" charset="-122"/>
                <a:cs typeface="Calibri" pitchFamily="34" charset="-120"/>
              </a:rPr>
              <a:t>        ● </a:t>
            </a:r>
            <a:pPr algn="l" indent="0" marL="0">
              <a:buNone/>
            </a:pPr>
            <a:r>
              <a:rPr lang="en-US" sz="1100" dirty="0">
                <a:solidFill>
                  <a:srgbClr val="9AA0A6"/>
                </a:solidFill>
                <a:latin typeface="Calibri" pitchFamily="34" charset="0"/>
                <a:ea typeface="Calibri" pitchFamily="34" charset="-122"/>
                <a:cs typeface="Calibri" pitchFamily="34" charset="-120"/>
              </a:rPr>
              <a:t>loop active</a:t>
            </a:r>
            <a:pPr algn="l" indent="0" marL="0">
              <a:buNone/>
            </a:pPr>
            <a:r>
              <a:rPr lang="en-US" sz="1100" dirty="0">
                <a:solidFill>
                  <a:srgbClr val="9AA0A6"/>
                </a:solidFill>
                <a:latin typeface="Calibri" pitchFamily="34" charset="0"/>
                <a:ea typeface="Calibri" pitchFamily="34" charset="-122"/>
                <a:cs typeface="Calibri" pitchFamily="34" charset="-120"/>
              </a:rPr>
              <a:t>        next → </a:t>
            </a:r>
            <a:pPr algn="l" indent="0" marL="0">
              <a:buNone/>
            </a:pPr>
            <a:r>
              <a:rPr lang="en-US" sz="1100" dirty="0">
                <a:solidFill>
                  <a:srgbClr val="DE560E"/>
                </a:solidFill>
                <a:latin typeface="Calibri" pitchFamily="34" charset="0"/>
                <a:ea typeface="Calibri" pitchFamily="34" charset="-122"/>
                <a:cs typeface="Calibri" pitchFamily="34" charset="-120"/>
              </a:rPr>
              <a:t>the pitch</a:t>
            </a:r>
            <a:endParaRPr lang="en-US" sz="1100" dirty="0"/>
          </a:p>
        </p:txBody>
      </p:sp>
      <p:sp>
        <p:nvSpPr>
          <p:cNvPr id="3" name="Text 1"/>
          <p:cNvSpPr/>
          <p:nvPr/>
        </p:nvSpPr>
        <p:spPr>
          <a:xfrm>
            <a:off x="640080" y="18745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A PROPOSAL FOR LYRA</a:t>
            </a:r>
            <a:endParaRPr lang="en-US" sz="1100" dirty="0"/>
          </a:p>
        </p:txBody>
      </p:sp>
      <p:sp>
        <p:nvSpPr>
          <p:cNvPr id="4" name="Text 2"/>
          <p:cNvSpPr/>
          <p:nvPr/>
        </p:nvSpPr>
        <p:spPr>
          <a:xfrm>
            <a:off x="640080" y="2240280"/>
            <a:ext cx="7315200" cy="1828800"/>
          </a:xfrm>
          <a:prstGeom prst="rect">
            <a:avLst/>
          </a:prstGeom>
          <a:noFill/>
          <a:ln/>
        </p:spPr>
        <p:txBody>
          <a:bodyPr wrap="square" lIns="0" tIns="0" rIns="0" bIns="0" rtlCol="0" anchor="t"/>
          <a:lstStyle/>
          <a:p>
            <a:pPr algn="l" indent="0" marL="0">
              <a:lnSpc>
                <a:spcPct val="102000"/>
              </a:lnSpc>
              <a:buNone/>
            </a:pPr>
            <a:r>
              <a:rPr lang="en-US" sz="4600" b="1" dirty="0">
                <a:solidFill>
                  <a:srgbClr val="FFFFFF"/>
                </a:solidFill>
                <a:latin typeface="Cambria" pitchFamily="34" charset="0"/>
                <a:ea typeface="Cambria" pitchFamily="34" charset="-122"/>
                <a:cs typeface="Cambria" pitchFamily="34" charset="-120"/>
              </a:rPr>
              <a:t>Stop driving the agent.</a:t>
            </a:r>
            <a:endParaRPr lang="en-US" sz="4600" dirty="0"/>
          </a:p>
          <a:p>
            <a:pPr algn="l" indent="0" marL="0">
              <a:lnSpc>
                <a:spcPct val="102000"/>
              </a:lnSpc>
              <a:buNone/>
            </a:pPr>
            <a:r>
              <a:rPr lang="en-US" sz="4600" b="1" dirty="0">
                <a:solidFill>
                  <a:srgbClr val="FFFFFF"/>
                </a:solidFill>
                <a:latin typeface="Cambria" pitchFamily="34" charset="0"/>
                <a:ea typeface="Cambria" pitchFamily="34" charset="-122"/>
                <a:cs typeface="Cambria" pitchFamily="34" charset="-120"/>
              </a:rPr>
              <a:t>Delegate the </a:t>
            </a:r>
            <a:pPr algn="l" indent="0" marL="0">
              <a:lnSpc>
                <a:spcPct val="102000"/>
              </a:lnSpc>
              <a:buNone/>
            </a:pPr>
            <a:r>
              <a:rPr lang="en-US" sz="4600" b="1" i="1" dirty="0">
                <a:solidFill>
                  <a:srgbClr val="DE560E"/>
                </a:solidFill>
                <a:latin typeface="Cambria" pitchFamily="34" charset="0"/>
                <a:ea typeface="Cambria" pitchFamily="34" charset="-122"/>
                <a:cs typeface="Cambria" pitchFamily="34" charset="-120"/>
              </a:rPr>
              <a:t>delivery.</a:t>
            </a:r>
            <a:endParaRPr lang="en-US" sz="4600" dirty="0"/>
          </a:p>
        </p:txBody>
      </p:sp>
      <p:sp>
        <p:nvSpPr>
          <p:cNvPr id="5" name="Text 3"/>
          <p:cNvSpPr/>
          <p:nvPr/>
        </p:nvSpPr>
        <p:spPr>
          <a:xfrm>
            <a:off x="640080" y="4526280"/>
            <a:ext cx="6766560" cy="1097280"/>
          </a:xfrm>
          <a:prstGeom prst="rect">
            <a:avLst/>
          </a:prstGeom>
          <a:noFill/>
          <a:ln/>
        </p:spPr>
        <p:txBody>
          <a:bodyPr wrap="square" lIns="0" tIns="0" rIns="0" bIns="0" rtlCol="0" anchor="t"/>
          <a:lstStyle/>
          <a:p>
            <a:pPr algn="l" indent="0" marL="0">
              <a:lnSpc>
                <a:spcPct val="112000"/>
              </a:lnSpc>
              <a:buNone/>
            </a:pPr>
            <a:r>
              <a:rPr lang="en-US" sz="1600" dirty="0">
                <a:solidFill>
                  <a:srgbClr val="9AA0A6"/>
                </a:solidFill>
                <a:latin typeface="Calibri" pitchFamily="34" charset="0"/>
                <a:ea typeface="Calibri" pitchFamily="34" charset="-122"/>
                <a:cs typeface="Calibri" pitchFamily="34" charset="-120"/>
              </a:rPr>
              <a:t>Operant is the delegation layer for software delivery — it runs the work end to end, proves every change with evidence, and chases each person for the one call only they can make.</a:t>
            </a:r>
            <a:endParaRPr lang="en-US" sz="1600" dirty="0"/>
          </a:p>
        </p:txBody>
      </p:sp>
      <p:sp>
        <p:nvSpPr>
          <p:cNvPr id="6" name="Shape 4"/>
          <p:cNvSpPr/>
          <p:nvPr/>
        </p:nvSpPr>
        <p:spPr>
          <a:xfrm>
            <a:off x="7863840" y="1828800"/>
            <a:ext cx="3566160" cy="3566160"/>
          </a:xfrm>
          <a:prstGeom prst="ellipse">
            <a:avLst/>
          </a:prstGeom>
          <a:ln w="15875">
            <a:solidFill>
              <a:srgbClr val="3A434C"/>
            </a:solidFill>
            <a:prstDash val="dash"/>
          </a:ln>
        </p:spPr>
      </p:sp>
      <p:sp>
        <p:nvSpPr>
          <p:cNvPr id="7" name="Shape 5"/>
          <p:cNvSpPr/>
          <p:nvPr/>
        </p:nvSpPr>
        <p:spPr>
          <a:xfrm>
            <a:off x="9075420" y="3040380"/>
            <a:ext cx="1143000" cy="1143000"/>
          </a:xfrm>
          <a:prstGeom prst="ellipse">
            <a:avLst/>
          </a:prstGeom>
          <a:solidFill>
            <a:srgbClr val="1F262D"/>
          </a:solidFill>
          <a:ln/>
          <a:effectLst>
            <a:outerShdw sx="100000" sy="100000" kx="0" ky="0" algn="bl" rotWithShape="0" blurRad="114300" dist="50800" dir="5400000">
              <a:srgbClr val="000000">
                <a:alpha val="13000"/>
              </a:srgbClr>
            </a:outerShdw>
          </a:effectLst>
        </p:spPr>
      </p:sp>
      <p:sp>
        <p:nvSpPr>
          <p:cNvPr id="8" name="Text 6"/>
          <p:cNvSpPr/>
          <p:nvPr/>
        </p:nvSpPr>
        <p:spPr>
          <a:xfrm>
            <a:off x="9075420" y="3040380"/>
            <a:ext cx="1143000" cy="114300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OPERANT</a:t>
            </a:r>
            <a:endParaRPr lang="en-US" sz="1050" dirty="0"/>
          </a:p>
        </p:txBody>
      </p:sp>
      <p:sp>
        <p:nvSpPr>
          <p:cNvPr id="9" name="Shape 7"/>
          <p:cNvSpPr/>
          <p:nvPr/>
        </p:nvSpPr>
        <p:spPr>
          <a:xfrm>
            <a:off x="8938260" y="1636776"/>
            <a:ext cx="1417320" cy="384048"/>
          </a:xfrm>
          <a:prstGeom prst="roundRect">
            <a:avLst>
              <a:gd name="adj" fmla="val 47619"/>
            </a:avLst>
          </a:prstGeom>
          <a:solidFill>
            <a:srgbClr val="1F262C"/>
          </a:solidFill>
          <a:ln w="15875">
            <a:solidFill>
              <a:srgbClr val="DE560E"/>
            </a:solidFill>
            <a:prstDash val="solid"/>
          </a:ln>
          <a:effectLst>
            <a:outerShdw sx="100000" sy="100000" kx="0" ky="0" algn="bl" rotWithShape="0" blurRad="88900" dist="38100" dir="5400000">
              <a:srgbClr val="000000">
                <a:alpha val="10000"/>
              </a:srgbClr>
            </a:outerShdw>
          </a:effectLst>
        </p:spPr>
      </p:sp>
      <p:sp>
        <p:nvSpPr>
          <p:cNvPr id="10" name="Text 8"/>
          <p:cNvSpPr/>
          <p:nvPr/>
        </p:nvSpPr>
        <p:spPr>
          <a:xfrm>
            <a:off x="8938260" y="1636776"/>
            <a:ext cx="1417320" cy="384048"/>
          </a:xfrm>
          <a:prstGeom prst="rect">
            <a:avLst/>
          </a:prstGeom>
          <a:noFill/>
          <a:ln/>
        </p:spPr>
        <p:txBody>
          <a:bodyPr wrap="square" lIns="0" tIns="0" rIns="0" bIns="0" rtlCol="0" anchor="ctr"/>
          <a:lstStyle/>
          <a:p>
            <a:pPr algn="ctr" indent="0" marL="0">
              <a:buNone/>
            </a:pPr>
            <a:r>
              <a:rPr lang="en-US" sz="1050" b="1" dirty="0">
                <a:solidFill>
                  <a:srgbClr val="DE560E"/>
                </a:solidFill>
                <a:latin typeface="Calibri" pitchFamily="34" charset="0"/>
                <a:ea typeface="Calibri" pitchFamily="34" charset="-122"/>
                <a:cs typeface="Calibri" pitchFamily="34" charset="-120"/>
              </a:rPr>
              <a:t>you · approve</a:t>
            </a:r>
            <a:endParaRPr lang="en-US" sz="1050" dirty="0"/>
          </a:p>
        </p:txBody>
      </p:sp>
      <p:sp>
        <p:nvSpPr>
          <p:cNvPr id="11" name="Shape 9"/>
          <p:cNvSpPr/>
          <p:nvPr/>
        </p:nvSpPr>
        <p:spPr>
          <a:xfrm>
            <a:off x="10482453" y="4311396"/>
            <a:ext cx="1417320" cy="384048"/>
          </a:xfrm>
          <a:prstGeom prst="roundRect">
            <a:avLst>
              <a:gd name="adj" fmla="val 47619"/>
            </a:avLst>
          </a:prstGeom>
          <a:solidFill>
            <a:srgbClr val="1F262C"/>
          </a:solidFill>
          <a:ln w="15875">
            <a:solidFill>
              <a:srgbClr val="1C9356"/>
            </a:solidFill>
            <a:prstDash val="solid"/>
          </a:ln>
          <a:effectLst>
            <a:outerShdw sx="100000" sy="100000" kx="0" ky="0" algn="bl" rotWithShape="0" blurRad="88900" dist="38100" dir="5400000">
              <a:srgbClr val="000000">
                <a:alpha val="10000"/>
              </a:srgbClr>
            </a:outerShdw>
          </a:effectLst>
        </p:spPr>
      </p:sp>
      <p:sp>
        <p:nvSpPr>
          <p:cNvPr id="12" name="Text 10"/>
          <p:cNvSpPr/>
          <p:nvPr/>
        </p:nvSpPr>
        <p:spPr>
          <a:xfrm>
            <a:off x="10482453" y="4311396"/>
            <a:ext cx="1417320" cy="384048"/>
          </a:xfrm>
          <a:prstGeom prst="rect">
            <a:avLst/>
          </a:prstGeom>
          <a:noFill/>
          <a:ln/>
        </p:spPr>
        <p:txBody>
          <a:bodyPr wrap="square" lIns="0" tIns="0" rIns="0" bIns="0" rtlCol="0" anchor="ctr"/>
          <a:lstStyle/>
          <a:p>
            <a:pPr algn="ctr" indent="0" marL="0">
              <a:buNone/>
            </a:pPr>
            <a:r>
              <a:rPr lang="en-US" sz="1050" b="1" dirty="0">
                <a:solidFill>
                  <a:srgbClr val="1C9356"/>
                </a:solidFill>
                <a:latin typeface="Calibri" pitchFamily="34" charset="0"/>
                <a:ea typeface="Calibri" pitchFamily="34" charset="-122"/>
                <a:cs typeface="Calibri" pitchFamily="34" charset="-120"/>
              </a:rPr>
              <a:t>verified ✓</a:t>
            </a:r>
            <a:endParaRPr lang="en-US" sz="1050" dirty="0"/>
          </a:p>
        </p:txBody>
      </p:sp>
      <p:sp>
        <p:nvSpPr>
          <p:cNvPr id="13" name="Shape 11"/>
          <p:cNvSpPr/>
          <p:nvPr/>
        </p:nvSpPr>
        <p:spPr>
          <a:xfrm>
            <a:off x="7394067" y="4311396"/>
            <a:ext cx="1417320" cy="384048"/>
          </a:xfrm>
          <a:prstGeom prst="roundRect">
            <a:avLst>
              <a:gd name="adj" fmla="val 47619"/>
            </a:avLst>
          </a:prstGeom>
          <a:solidFill>
            <a:srgbClr val="1F262C"/>
          </a:solidFill>
          <a:ln w="15875">
            <a:solidFill>
              <a:srgbClr val="9AA0A6"/>
            </a:solidFill>
            <a:prstDash val="solid"/>
          </a:ln>
          <a:effectLst>
            <a:outerShdw sx="100000" sy="100000" kx="0" ky="0" algn="bl" rotWithShape="0" blurRad="88900" dist="38100" dir="5400000">
              <a:srgbClr val="000000">
                <a:alpha val="10000"/>
              </a:srgbClr>
            </a:outerShdw>
          </a:effectLst>
        </p:spPr>
      </p:sp>
      <p:sp>
        <p:nvSpPr>
          <p:cNvPr id="14" name="Text 12"/>
          <p:cNvSpPr/>
          <p:nvPr/>
        </p:nvSpPr>
        <p:spPr>
          <a:xfrm>
            <a:off x="7394067" y="4311396"/>
            <a:ext cx="1417320" cy="384048"/>
          </a:xfrm>
          <a:prstGeom prst="rect">
            <a:avLst/>
          </a:prstGeom>
          <a:noFill/>
          <a:ln/>
        </p:spPr>
        <p:txBody>
          <a:bodyPr wrap="square" lIns="0" tIns="0" rIns="0" bIns="0" rtlCol="0" anchor="ctr"/>
          <a:lstStyle/>
          <a:p>
            <a:pPr algn="ctr" indent="0" marL="0">
              <a:buNone/>
            </a:pPr>
            <a:r>
              <a:rPr lang="en-US" sz="1050" b="1" dirty="0">
                <a:solidFill>
                  <a:srgbClr val="9AA0A6"/>
                </a:solidFill>
                <a:latin typeface="Calibri" pitchFamily="34" charset="0"/>
                <a:ea typeface="Calibri" pitchFamily="34" charset="-122"/>
                <a:cs typeface="Calibri" pitchFamily="34" charset="-120"/>
              </a:rPr>
              <a:t>reviewer</a:t>
            </a:r>
            <a:endParaRPr lang="en-US" sz="1050" dirty="0"/>
          </a:p>
        </p:txBody>
      </p:sp>
      <p:sp>
        <p:nvSpPr>
          <p:cNvPr id="15" name="Shape 13"/>
          <p:cNvSpPr/>
          <p:nvPr/>
        </p:nvSpPr>
        <p:spPr>
          <a:xfrm>
            <a:off x="10156185" y="1835749"/>
            <a:ext cx="201168" cy="201168"/>
          </a:xfrm>
          <a:prstGeom prst="ellipse">
            <a:avLst/>
          </a:prstGeom>
          <a:solidFill>
            <a:srgbClr val="DE560E"/>
          </a:solidFill>
          <a:ln w="25400">
            <a:solidFill>
              <a:srgbClr val="161B20"/>
            </a:solidFill>
            <a:prstDash val="solid"/>
          </a:ln>
        </p:spPr>
      </p:sp>
      <p:sp>
        <p:nvSpPr>
          <p:cNvPr id="16" name="Text 14"/>
          <p:cNvSpPr/>
          <p:nvPr/>
        </p:nvSpPr>
        <p:spPr>
          <a:xfrm>
            <a:off x="640080" y="6355080"/>
            <a:ext cx="3657600" cy="274320"/>
          </a:xfrm>
          <a:prstGeom prst="rect">
            <a:avLst/>
          </a:prstGeom>
          <a:noFill/>
          <a:ln/>
        </p:spPr>
        <p:txBody>
          <a:bodyPr wrap="square" lIns="0" tIns="0" rIns="0" bIns="0" rtlCol="0" anchor="ctr"/>
          <a:lstStyle/>
          <a:p>
            <a:pPr algn="l" indent="0" marL="0">
              <a:buNone/>
            </a:pPr>
            <a:r>
              <a:rPr lang="en-US" sz="1100" dirty="0">
                <a:solidFill>
                  <a:srgbClr val="8A9096"/>
                </a:solidFill>
                <a:latin typeface="Calibri" pitchFamily="34" charset="0"/>
                <a:ea typeface="Calibri" pitchFamily="34" charset="-122"/>
                <a:cs typeface="Calibri" pitchFamily="34" charset="-120"/>
              </a:rPr>
              <a:t>operantlabs.com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THE SHIFT</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000" b="1" dirty="0">
                <a:solidFill>
                  <a:srgbClr val="1F262D"/>
                </a:solidFill>
                <a:latin typeface="Cambria" pitchFamily="34" charset="0"/>
                <a:ea typeface="Cambria" pitchFamily="34" charset="-122"/>
                <a:cs typeface="Cambria" pitchFamily="34" charset="-120"/>
              </a:rPr>
              <a:t>Today you drive the agent. Operant drives the work.</a:t>
            </a:r>
            <a:endParaRPr lang="en-US" sz="3000" dirty="0"/>
          </a:p>
        </p:txBody>
      </p:sp>
      <p:sp>
        <p:nvSpPr>
          <p:cNvPr id="4" name="Shape 2"/>
          <p:cNvSpPr/>
          <p:nvPr/>
        </p:nvSpPr>
        <p:spPr>
          <a:xfrm>
            <a:off x="640080" y="2148840"/>
            <a:ext cx="5257800" cy="3977640"/>
          </a:xfrm>
          <a:prstGeom prst="roundRect">
            <a:avLst>
              <a:gd name="adj" fmla="val 2069"/>
            </a:avLst>
          </a:prstGeom>
          <a:solidFill>
            <a:srgbClr val="F2F2E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5" name="Shape 3"/>
          <p:cNvSpPr/>
          <p:nvPr/>
        </p:nvSpPr>
        <p:spPr>
          <a:xfrm>
            <a:off x="1051560" y="2560320"/>
            <a:ext cx="640080" cy="640080"/>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6" name="Image 0" descr="preencoded.png">    </p:cNvPr>
          <p:cNvPicPr>
            <a:picLocks noChangeAspect="1"/>
          </p:cNvPicPr>
          <p:nvPr/>
        </p:nvPicPr>
        <p:blipFill>
          <a:blip r:embed="rId1"/>
          <a:stretch>
            <a:fillRect/>
          </a:stretch>
        </p:blipFill>
        <p:spPr>
          <a:xfrm>
            <a:off x="1205179" y="2713939"/>
            <a:ext cx="332842" cy="332842"/>
          </a:xfrm>
          <a:prstGeom prst="rect">
            <a:avLst/>
          </a:prstGeom>
        </p:spPr>
      </p:pic>
      <p:sp>
        <p:nvSpPr>
          <p:cNvPr id="7" name="Text 4"/>
          <p:cNvSpPr/>
          <p:nvPr/>
        </p:nvSpPr>
        <p:spPr>
          <a:xfrm>
            <a:off x="1874520" y="2606040"/>
            <a:ext cx="3794760" cy="548640"/>
          </a:xfrm>
          <a:prstGeom prst="rect">
            <a:avLst/>
          </a:prstGeom>
          <a:noFill/>
          <a:ln/>
        </p:spPr>
        <p:txBody>
          <a:bodyPr wrap="square" lIns="0" tIns="0" rIns="0" bIns="0" rtlCol="0" anchor="ctr"/>
          <a:lstStyle/>
          <a:p>
            <a:pPr indent="0" marL="0">
              <a:buNone/>
            </a:pPr>
            <a:r>
              <a:rPr lang="en-US" sz="1900" b="1" dirty="0">
                <a:solidFill>
                  <a:srgbClr val="1F262D"/>
                </a:solidFill>
                <a:latin typeface="Cambria" pitchFamily="34" charset="0"/>
                <a:ea typeface="Cambria" pitchFamily="34" charset="-122"/>
                <a:cs typeface="Cambria" pitchFamily="34" charset="-120"/>
              </a:rPr>
              <a:t>Today — you drive</a:t>
            </a:r>
            <a:endParaRPr lang="en-US" sz="1900" dirty="0"/>
          </a:p>
        </p:txBody>
      </p:sp>
      <p:sp>
        <p:nvSpPr>
          <p:cNvPr id="8" name="Shape 5"/>
          <p:cNvSpPr/>
          <p:nvPr/>
        </p:nvSpPr>
        <p:spPr>
          <a:xfrm>
            <a:off x="2710603" y="3357913"/>
            <a:ext cx="558377" cy="665447"/>
          </a:xfrm>
          <a:prstGeom prst="line">
            <a:avLst/>
          </a:prstGeom>
          <a:noFill/>
          <a:ln w="15875">
            <a:solidFill>
              <a:srgbClr val="5C646C"/>
            </a:solidFill>
            <a:prstDash val="solid"/>
          </a:ln>
        </p:spPr>
      </p:sp>
      <p:sp>
        <p:nvSpPr>
          <p:cNvPr id="9" name="Shape 6"/>
          <p:cNvSpPr/>
          <p:nvPr/>
        </p:nvSpPr>
        <p:spPr>
          <a:xfrm>
            <a:off x="2527723" y="3175033"/>
            <a:ext cx="365760" cy="365760"/>
          </a:xfrm>
          <a:prstGeom prst="ellipse">
            <a:avLst/>
          </a:prstGeom>
          <a:solidFill>
            <a:srgbClr val="FFFFFF"/>
          </a:solidFill>
          <a:ln w="19050">
            <a:solidFill>
              <a:srgbClr val="5C646C"/>
            </a:solidFill>
            <a:prstDash val="solid"/>
          </a:ln>
        </p:spPr>
      </p:sp>
      <p:sp>
        <p:nvSpPr>
          <p:cNvPr id="10" name="Shape 7"/>
          <p:cNvSpPr/>
          <p:nvPr/>
        </p:nvSpPr>
        <p:spPr>
          <a:xfrm flipH="1">
            <a:off x="3268980" y="3357913"/>
            <a:ext cx="558377" cy="665447"/>
          </a:xfrm>
          <a:prstGeom prst="line">
            <a:avLst/>
          </a:prstGeom>
          <a:noFill/>
          <a:ln w="15875">
            <a:solidFill>
              <a:srgbClr val="D6D8D3"/>
            </a:solidFill>
            <a:prstDash val="dash"/>
          </a:ln>
        </p:spPr>
      </p:sp>
      <p:sp>
        <p:nvSpPr>
          <p:cNvPr id="11" name="Shape 8"/>
          <p:cNvSpPr/>
          <p:nvPr/>
        </p:nvSpPr>
        <p:spPr>
          <a:xfrm>
            <a:off x="3644477" y="3175033"/>
            <a:ext cx="365760" cy="365760"/>
          </a:xfrm>
          <a:prstGeom prst="ellipse">
            <a:avLst/>
          </a:prstGeom>
          <a:solidFill>
            <a:srgbClr val="E9E9E6"/>
          </a:solidFill>
          <a:ln w="19050">
            <a:solidFill>
              <a:srgbClr val="D6D8D3"/>
            </a:solidFill>
            <a:prstDash val="solid"/>
          </a:ln>
        </p:spPr>
      </p:sp>
      <p:sp>
        <p:nvSpPr>
          <p:cNvPr id="12" name="Shape 9"/>
          <p:cNvSpPr/>
          <p:nvPr/>
        </p:nvSpPr>
        <p:spPr>
          <a:xfrm flipH="1">
            <a:off x="2710603" y="4023360"/>
            <a:ext cx="558377" cy="665447"/>
          </a:xfrm>
          <a:prstGeom prst="line">
            <a:avLst/>
          </a:prstGeom>
          <a:noFill/>
          <a:ln w="15875">
            <a:solidFill>
              <a:srgbClr val="D6D8D3"/>
            </a:solidFill>
            <a:prstDash val="dash"/>
          </a:ln>
        </p:spPr>
      </p:sp>
      <p:sp>
        <p:nvSpPr>
          <p:cNvPr id="13" name="Shape 10"/>
          <p:cNvSpPr/>
          <p:nvPr/>
        </p:nvSpPr>
        <p:spPr>
          <a:xfrm>
            <a:off x="2527723" y="4505927"/>
            <a:ext cx="365760" cy="365760"/>
          </a:xfrm>
          <a:prstGeom prst="ellipse">
            <a:avLst/>
          </a:prstGeom>
          <a:solidFill>
            <a:srgbClr val="E9E9E6"/>
          </a:solidFill>
          <a:ln w="19050">
            <a:solidFill>
              <a:srgbClr val="D6D8D3"/>
            </a:solidFill>
            <a:prstDash val="solid"/>
          </a:ln>
        </p:spPr>
      </p:sp>
      <p:sp>
        <p:nvSpPr>
          <p:cNvPr id="14" name="Shape 11"/>
          <p:cNvSpPr/>
          <p:nvPr/>
        </p:nvSpPr>
        <p:spPr>
          <a:xfrm>
            <a:off x="3268980" y="4023360"/>
            <a:ext cx="558377" cy="665447"/>
          </a:xfrm>
          <a:prstGeom prst="line">
            <a:avLst/>
          </a:prstGeom>
          <a:noFill/>
          <a:ln w="15875">
            <a:solidFill>
              <a:srgbClr val="5C646C"/>
            </a:solidFill>
            <a:prstDash val="solid"/>
          </a:ln>
        </p:spPr>
      </p:sp>
      <p:sp>
        <p:nvSpPr>
          <p:cNvPr id="15" name="Shape 12"/>
          <p:cNvSpPr/>
          <p:nvPr/>
        </p:nvSpPr>
        <p:spPr>
          <a:xfrm>
            <a:off x="3644477" y="4505927"/>
            <a:ext cx="365760" cy="365760"/>
          </a:xfrm>
          <a:prstGeom prst="ellipse">
            <a:avLst/>
          </a:prstGeom>
          <a:solidFill>
            <a:srgbClr val="FFFFFF"/>
          </a:solidFill>
          <a:ln w="19050">
            <a:solidFill>
              <a:srgbClr val="5C646C"/>
            </a:solidFill>
            <a:prstDash val="solid"/>
          </a:ln>
        </p:spPr>
      </p:sp>
      <p:sp>
        <p:nvSpPr>
          <p:cNvPr id="16" name="Shape 13"/>
          <p:cNvSpPr/>
          <p:nvPr/>
        </p:nvSpPr>
        <p:spPr>
          <a:xfrm>
            <a:off x="2884932" y="3639312"/>
            <a:ext cx="768096" cy="768096"/>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17" name="Image 1" descr="preencoded.png">    </p:cNvPr>
          <p:cNvPicPr>
            <a:picLocks noChangeAspect="1"/>
          </p:cNvPicPr>
          <p:nvPr/>
        </p:nvPicPr>
        <p:blipFill>
          <a:blip r:embed="rId2"/>
          <a:stretch>
            <a:fillRect/>
          </a:stretch>
        </p:blipFill>
        <p:spPr>
          <a:xfrm>
            <a:off x="3076956" y="3831336"/>
            <a:ext cx="384048" cy="384048"/>
          </a:xfrm>
          <a:prstGeom prst="rect">
            <a:avLst/>
          </a:prstGeom>
        </p:spPr>
      </p:pic>
      <p:sp>
        <p:nvSpPr>
          <p:cNvPr id="18" name="Text 14"/>
          <p:cNvSpPr/>
          <p:nvPr/>
        </p:nvSpPr>
        <p:spPr>
          <a:xfrm>
            <a:off x="1051560" y="5166360"/>
            <a:ext cx="4434840" cy="822960"/>
          </a:xfrm>
          <a:prstGeom prst="rect">
            <a:avLst/>
          </a:prstGeom>
          <a:noFill/>
          <a:ln/>
        </p:spPr>
        <p:txBody>
          <a:bodyPr wrap="square" lIns="0" tIns="0" rIns="0" bIns="0" rtlCol="0" anchor="t"/>
          <a:lstStyle/>
          <a:p>
            <a:pPr algn="l" indent="0" marL="0">
              <a:lnSpc>
                <a:spcPct val="110000"/>
              </a:lnSpc>
              <a:buNone/>
            </a:pPr>
            <a:r>
              <a:rPr lang="en-US" sz="1300" dirty="0">
                <a:solidFill>
                  <a:srgbClr val="5C646C"/>
                </a:solidFill>
                <a:latin typeface="Calibri" pitchFamily="34" charset="0"/>
                <a:ea typeface="Calibri" pitchFamily="34" charset="-122"/>
                <a:cs typeface="Calibri" pitchFamily="34" charset="-120"/>
              </a:rPr>
              <a:t>Your attention moves — and the threads you left mid-flight go quiet, waiting for you to come back and notice.</a:t>
            </a:r>
            <a:endParaRPr lang="en-US" sz="1300" dirty="0"/>
          </a:p>
        </p:txBody>
      </p:sp>
      <p:sp>
        <p:nvSpPr>
          <p:cNvPr id="19" name="Shape 15"/>
          <p:cNvSpPr/>
          <p:nvPr/>
        </p:nvSpPr>
        <p:spPr>
          <a:xfrm>
            <a:off x="6291072" y="2148840"/>
            <a:ext cx="5257800" cy="3977640"/>
          </a:xfrm>
          <a:prstGeom prst="roundRect">
            <a:avLst>
              <a:gd name="adj" fmla="val 2069"/>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20" name="Shape 16"/>
          <p:cNvSpPr/>
          <p:nvPr/>
        </p:nvSpPr>
        <p:spPr>
          <a:xfrm>
            <a:off x="6702552" y="2560320"/>
            <a:ext cx="640080" cy="640080"/>
          </a:xfrm>
          <a:prstGeom prst="ellipse">
            <a:avLst/>
          </a:prstGeom>
          <a:solidFill>
            <a:srgbClr val="DE560E"/>
          </a:solidFill>
          <a:ln/>
          <a:effectLst>
            <a:outerShdw sx="100000" sy="100000" kx="0" ky="0" algn="bl" rotWithShape="0" blurRad="88900" dist="38100" dir="5400000">
              <a:srgbClr val="000000">
                <a:alpha val="10000"/>
              </a:srgbClr>
            </a:outerShdw>
          </a:effectLst>
        </p:spPr>
      </p:sp>
      <p:pic>
        <p:nvPicPr>
          <p:cNvPr id="21" name="Image 2" descr="preencoded.png">    </p:cNvPr>
          <p:cNvPicPr>
            <a:picLocks noChangeAspect="1"/>
          </p:cNvPicPr>
          <p:nvPr/>
        </p:nvPicPr>
        <p:blipFill>
          <a:blip r:embed="rId3"/>
          <a:stretch>
            <a:fillRect/>
          </a:stretch>
        </p:blipFill>
        <p:spPr>
          <a:xfrm>
            <a:off x="6856171" y="2713939"/>
            <a:ext cx="332842" cy="332842"/>
          </a:xfrm>
          <a:prstGeom prst="rect">
            <a:avLst/>
          </a:prstGeom>
        </p:spPr>
      </p:pic>
      <p:sp>
        <p:nvSpPr>
          <p:cNvPr id="22" name="Text 17"/>
          <p:cNvSpPr/>
          <p:nvPr/>
        </p:nvSpPr>
        <p:spPr>
          <a:xfrm>
            <a:off x="7525512" y="2606040"/>
            <a:ext cx="3794760" cy="548640"/>
          </a:xfrm>
          <a:prstGeom prst="rect">
            <a:avLst/>
          </a:prstGeom>
          <a:noFill/>
          <a:ln/>
        </p:spPr>
        <p:txBody>
          <a:bodyPr wrap="square" lIns="0" tIns="0" rIns="0" bIns="0" rtlCol="0" anchor="ctr"/>
          <a:lstStyle/>
          <a:p>
            <a:pPr indent="0" marL="0">
              <a:buNone/>
            </a:pPr>
            <a:r>
              <a:rPr lang="en-US" sz="1900" b="1" dirty="0">
                <a:solidFill>
                  <a:srgbClr val="1F262D"/>
                </a:solidFill>
                <a:latin typeface="Cambria" pitchFamily="34" charset="0"/>
                <a:ea typeface="Cambria" pitchFamily="34" charset="-122"/>
                <a:cs typeface="Cambria" pitchFamily="34" charset="-120"/>
              </a:rPr>
              <a:t>Operant — it chases you</a:t>
            </a:r>
            <a:endParaRPr lang="en-US" sz="1900" dirty="0"/>
          </a:p>
        </p:txBody>
      </p:sp>
      <p:sp>
        <p:nvSpPr>
          <p:cNvPr id="23" name="Shape 18"/>
          <p:cNvSpPr/>
          <p:nvPr/>
        </p:nvSpPr>
        <p:spPr>
          <a:xfrm>
            <a:off x="8361595" y="3357913"/>
            <a:ext cx="558377" cy="665447"/>
          </a:xfrm>
          <a:prstGeom prst="line">
            <a:avLst/>
          </a:prstGeom>
          <a:noFill/>
          <a:ln w="19050">
            <a:solidFill>
              <a:srgbClr val="DE560E"/>
            </a:solidFill>
            <a:prstDash val="solid"/>
          </a:ln>
        </p:spPr>
      </p:sp>
      <p:sp>
        <p:nvSpPr>
          <p:cNvPr id="24" name="Shape 19"/>
          <p:cNvSpPr/>
          <p:nvPr/>
        </p:nvSpPr>
        <p:spPr>
          <a:xfrm>
            <a:off x="8178715" y="3175033"/>
            <a:ext cx="365760" cy="365760"/>
          </a:xfrm>
          <a:prstGeom prst="ellipse">
            <a:avLst/>
          </a:prstGeom>
          <a:solidFill>
            <a:srgbClr val="FBE7DC"/>
          </a:solidFill>
          <a:ln w="19050">
            <a:solidFill>
              <a:srgbClr val="DE560E"/>
            </a:solidFill>
            <a:prstDash val="solid"/>
          </a:ln>
        </p:spPr>
      </p:sp>
      <p:sp>
        <p:nvSpPr>
          <p:cNvPr id="25" name="Shape 20"/>
          <p:cNvSpPr/>
          <p:nvPr/>
        </p:nvSpPr>
        <p:spPr>
          <a:xfrm>
            <a:off x="8306731" y="3303049"/>
            <a:ext cx="109728" cy="109728"/>
          </a:xfrm>
          <a:prstGeom prst="ellipse">
            <a:avLst/>
          </a:prstGeom>
          <a:solidFill>
            <a:srgbClr val="DE560E"/>
          </a:solidFill>
          <a:ln/>
        </p:spPr>
      </p:sp>
      <p:sp>
        <p:nvSpPr>
          <p:cNvPr id="26" name="Shape 21"/>
          <p:cNvSpPr/>
          <p:nvPr/>
        </p:nvSpPr>
        <p:spPr>
          <a:xfrm flipH="1">
            <a:off x="8919972" y="3357913"/>
            <a:ext cx="558377" cy="665447"/>
          </a:xfrm>
          <a:prstGeom prst="line">
            <a:avLst/>
          </a:prstGeom>
          <a:noFill/>
          <a:ln w="19050">
            <a:solidFill>
              <a:srgbClr val="DE560E"/>
            </a:solidFill>
            <a:prstDash val="solid"/>
          </a:ln>
        </p:spPr>
      </p:sp>
      <p:sp>
        <p:nvSpPr>
          <p:cNvPr id="27" name="Shape 22"/>
          <p:cNvSpPr/>
          <p:nvPr/>
        </p:nvSpPr>
        <p:spPr>
          <a:xfrm>
            <a:off x="9295469" y="3175033"/>
            <a:ext cx="365760" cy="365760"/>
          </a:xfrm>
          <a:prstGeom prst="ellipse">
            <a:avLst/>
          </a:prstGeom>
          <a:solidFill>
            <a:srgbClr val="FBE7DC"/>
          </a:solidFill>
          <a:ln w="19050">
            <a:solidFill>
              <a:srgbClr val="DE560E"/>
            </a:solidFill>
            <a:prstDash val="solid"/>
          </a:ln>
        </p:spPr>
      </p:sp>
      <p:sp>
        <p:nvSpPr>
          <p:cNvPr id="28" name="Shape 23"/>
          <p:cNvSpPr/>
          <p:nvPr/>
        </p:nvSpPr>
        <p:spPr>
          <a:xfrm>
            <a:off x="9423485" y="3303049"/>
            <a:ext cx="109728" cy="109728"/>
          </a:xfrm>
          <a:prstGeom prst="ellipse">
            <a:avLst/>
          </a:prstGeom>
          <a:solidFill>
            <a:srgbClr val="DE560E"/>
          </a:solidFill>
          <a:ln/>
        </p:spPr>
      </p:sp>
      <p:sp>
        <p:nvSpPr>
          <p:cNvPr id="29" name="Shape 24"/>
          <p:cNvSpPr/>
          <p:nvPr/>
        </p:nvSpPr>
        <p:spPr>
          <a:xfrm flipH="1">
            <a:off x="8361595" y="4023360"/>
            <a:ext cx="558377" cy="665447"/>
          </a:xfrm>
          <a:prstGeom prst="line">
            <a:avLst/>
          </a:prstGeom>
          <a:noFill/>
          <a:ln w="19050">
            <a:solidFill>
              <a:srgbClr val="DE560E"/>
            </a:solidFill>
            <a:prstDash val="solid"/>
          </a:ln>
        </p:spPr>
      </p:sp>
      <p:sp>
        <p:nvSpPr>
          <p:cNvPr id="30" name="Shape 25"/>
          <p:cNvSpPr/>
          <p:nvPr/>
        </p:nvSpPr>
        <p:spPr>
          <a:xfrm>
            <a:off x="8178715" y="4505927"/>
            <a:ext cx="365760" cy="365760"/>
          </a:xfrm>
          <a:prstGeom prst="ellipse">
            <a:avLst/>
          </a:prstGeom>
          <a:solidFill>
            <a:srgbClr val="FBE7DC"/>
          </a:solidFill>
          <a:ln w="19050">
            <a:solidFill>
              <a:srgbClr val="DE560E"/>
            </a:solidFill>
            <a:prstDash val="solid"/>
          </a:ln>
        </p:spPr>
      </p:sp>
      <p:sp>
        <p:nvSpPr>
          <p:cNvPr id="31" name="Shape 26"/>
          <p:cNvSpPr/>
          <p:nvPr/>
        </p:nvSpPr>
        <p:spPr>
          <a:xfrm>
            <a:off x="8306731" y="4633943"/>
            <a:ext cx="109728" cy="109728"/>
          </a:xfrm>
          <a:prstGeom prst="ellipse">
            <a:avLst/>
          </a:prstGeom>
          <a:solidFill>
            <a:srgbClr val="DE560E"/>
          </a:solidFill>
          <a:ln/>
        </p:spPr>
      </p:sp>
      <p:sp>
        <p:nvSpPr>
          <p:cNvPr id="32" name="Shape 27"/>
          <p:cNvSpPr/>
          <p:nvPr/>
        </p:nvSpPr>
        <p:spPr>
          <a:xfrm>
            <a:off x="8919972" y="4023360"/>
            <a:ext cx="558377" cy="665447"/>
          </a:xfrm>
          <a:prstGeom prst="line">
            <a:avLst/>
          </a:prstGeom>
          <a:noFill/>
          <a:ln w="19050">
            <a:solidFill>
              <a:srgbClr val="DE560E"/>
            </a:solidFill>
            <a:prstDash val="solid"/>
          </a:ln>
        </p:spPr>
      </p:sp>
      <p:sp>
        <p:nvSpPr>
          <p:cNvPr id="33" name="Shape 28"/>
          <p:cNvSpPr/>
          <p:nvPr/>
        </p:nvSpPr>
        <p:spPr>
          <a:xfrm>
            <a:off x="9295469" y="4505927"/>
            <a:ext cx="365760" cy="365760"/>
          </a:xfrm>
          <a:prstGeom prst="ellipse">
            <a:avLst/>
          </a:prstGeom>
          <a:solidFill>
            <a:srgbClr val="FBE7DC"/>
          </a:solidFill>
          <a:ln w="19050">
            <a:solidFill>
              <a:srgbClr val="DE560E"/>
            </a:solidFill>
            <a:prstDash val="solid"/>
          </a:ln>
        </p:spPr>
      </p:sp>
      <p:sp>
        <p:nvSpPr>
          <p:cNvPr id="34" name="Shape 29"/>
          <p:cNvSpPr/>
          <p:nvPr/>
        </p:nvSpPr>
        <p:spPr>
          <a:xfrm>
            <a:off x="9423485" y="4633943"/>
            <a:ext cx="109728" cy="109728"/>
          </a:xfrm>
          <a:prstGeom prst="ellipse">
            <a:avLst/>
          </a:prstGeom>
          <a:solidFill>
            <a:srgbClr val="DE560E"/>
          </a:solidFill>
          <a:ln/>
        </p:spPr>
      </p:sp>
      <p:sp>
        <p:nvSpPr>
          <p:cNvPr id="35" name="Shape 30"/>
          <p:cNvSpPr/>
          <p:nvPr/>
        </p:nvSpPr>
        <p:spPr>
          <a:xfrm>
            <a:off x="8499348" y="3602736"/>
            <a:ext cx="841248" cy="841248"/>
          </a:xfrm>
          <a:prstGeom prst="ellipse">
            <a:avLst/>
          </a:prstGeom>
          <a:solidFill>
            <a:srgbClr val="161B20"/>
          </a:solidFill>
          <a:ln/>
          <a:effectLst>
            <a:outerShdw sx="100000" sy="100000" kx="0" ky="0" algn="bl" rotWithShape="0" blurRad="88900" dist="38100" dir="5400000">
              <a:srgbClr val="000000">
                <a:alpha val="10000"/>
              </a:srgbClr>
            </a:outerShdw>
          </a:effectLst>
        </p:spPr>
      </p:sp>
      <p:sp>
        <p:nvSpPr>
          <p:cNvPr id="36" name="Text 31"/>
          <p:cNvSpPr/>
          <p:nvPr/>
        </p:nvSpPr>
        <p:spPr>
          <a:xfrm>
            <a:off x="8499348" y="3602736"/>
            <a:ext cx="841248" cy="8412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a:t>
            </a:r>
            <a:endParaRPr lang="en-US" sz="1300" dirty="0"/>
          </a:p>
        </p:txBody>
      </p:sp>
      <p:sp>
        <p:nvSpPr>
          <p:cNvPr id="37" name="Text 32"/>
          <p:cNvSpPr/>
          <p:nvPr/>
        </p:nvSpPr>
        <p:spPr>
          <a:xfrm>
            <a:off x="6702552" y="5166360"/>
            <a:ext cx="4434840" cy="822960"/>
          </a:xfrm>
          <a:prstGeom prst="rect">
            <a:avLst/>
          </a:prstGeom>
          <a:noFill/>
          <a:ln/>
        </p:spPr>
        <p:txBody>
          <a:bodyPr wrap="square" lIns="0" tIns="0" rIns="0" bIns="0" rtlCol="0" anchor="t"/>
          <a:lstStyle/>
          <a:p>
            <a:pPr algn="l" indent="0" marL="0">
              <a:lnSpc>
                <a:spcPct val="110000"/>
              </a:lnSpc>
              <a:buNone/>
            </a:pPr>
            <a:r>
              <a:rPr lang="en-US" sz="1300" dirty="0">
                <a:solidFill>
                  <a:srgbClr val="5C646C"/>
                </a:solidFill>
                <a:latin typeface="Calibri" pitchFamily="34" charset="0"/>
                <a:ea typeface="Calibri" pitchFamily="34" charset="-122"/>
                <a:cs typeface="Calibri" pitchFamily="34" charset="-120"/>
              </a:rPr>
              <a:t>The harness keeps every thread alive, knows who holds each key, and comes to get you — on whatever channel reaches you.</a:t>
            </a:r>
            <a:endParaRPr lang="en-US" sz="1300" dirty="0"/>
          </a:p>
        </p:txBody>
      </p:sp>
      <p:sp>
        <p:nvSpPr>
          <p:cNvPr id="38" name="Text 33"/>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WHAT IT IS</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000" b="1" dirty="0">
                <a:solidFill>
                  <a:srgbClr val="1F262D"/>
                </a:solidFill>
                <a:latin typeface="Cambria" pitchFamily="34" charset="0"/>
                <a:ea typeface="Cambria" pitchFamily="34" charset="-122"/>
                <a:cs typeface="Cambria" pitchFamily="34" charset="-120"/>
              </a:rPr>
              <a:t>A harness that takes responsibility for the delivery.</a:t>
            </a:r>
            <a:endParaRPr lang="en-US" sz="3000" dirty="0"/>
          </a:p>
        </p:txBody>
      </p:sp>
      <p:sp>
        <p:nvSpPr>
          <p:cNvPr id="4" name="Text 2"/>
          <p:cNvSpPr/>
          <p:nvPr/>
        </p:nvSpPr>
        <p:spPr>
          <a:xfrm>
            <a:off x="640080" y="1627632"/>
            <a:ext cx="10515600" cy="365760"/>
          </a:xfrm>
          <a:prstGeom prst="rect">
            <a:avLst/>
          </a:prstGeom>
          <a:noFill/>
          <a:ln/>
        </p:spPr>
        <p:txBody>
          <a:bodyPr wrap="square" lIns="0" tIns="0" rIns="0" bIns="0" rtlCol="0" anchor="ctr"/>
          <a:lstStyle/>
          <a:p>
            <a:pPr indent="0" marL="0">
              <a:buNone/>
            </a:pPr>
            <a:r>
              <a:rPr lang="en-US" sz="1500" dirty="0">
                <a:solidFill>
                  <a:srgbClr val="5C646C"/>
                </a:solidFill>
                <a:latin typeface="Calibri" pitchFamily="34" charset="0"/>
                <a:ea typeface="Calibri" pitchFamily="34" charset="-122"/>
                <a:cs typeface="Calibri" pitchFamily="34" charset="-120"/>
              </a:rPr>
              <a:t>Delegation here is a contract — three commitments the harness keeps on every loop.</a:t>
            </a:r>
            <a:endParaRPr lang="en-US" sz="1500" dirty="0"/>
          </a:p>
        </p:txBody>
      </p:sp>
      <p:sp>
        <p:nvSpPr>
          <p:cNvPr id="5" name="Shape 3"/>
          <p:cNvSpPr/>
          <p:nvPr/>
        </p:nvSpPr>
        <p:spPr>
          <a:xfrm>
            <a:off x="640080" y="2331720"/>
            <a:ext cx="3383280" cy="3703320"/>
          </a:xfrm>
          <a:prstGeom prst="roundRect">
            <a:avLst>
              <a:gd name="adj" fmla="val 2432"/>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6" name="Shape 4"/>
          <p:cNvSpPr/>
          <p:nvPr/>
        </p:nvSpPr>
        <p:spPr>
          <a:xfrm>
            <a:off x="1051560" y="2788920"/>
            <a:ext cx="777240" cy="777240"/>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1238098" y="2975458"/>
            <a:ext cx="404165" cy="404165"/>
          </a:xfrm>
          <a:prstGeom prst="rect">
            <a:avLst/>
          </a:prstGeom>
        </p:spPr>
      </p:pic>
      <p:sp>
        <p:nvSpPr>
          <p:cNvPr id="8" name="Text 5"/>
          <p:cNvSpPr/>
          <p:nvPr/>
        </p:nvSpPr>
        <p:spPr>
          <a:xfrm>
            <a:off x="1051560" y="3794760"/>
            <a:ext cx="2560320" cy="457200"/>
          </a:xfrm>
          <a:prstGeom prst="rect">
            <a:avLst/>
          </a:prstGeom>
          <a:noFill/>
          <a:ln/>
        </p:spPr>
        <p:txBody>
          <a:bodyPr wrap="square" lIns="0" tIns="0" rIns="0" bIns="0" rtlCol="0" anchor="ctr"/>
          <a:lstStyle/>
          <a:p>
            <a:pPr indent="0" marL="0">
              <a:buNone/>
            </a:pPr>
            <a:r>
              <a:rPr lang="en-US" sz="2000" b="1" dirty="0">
                <a:solidFill>
                  <a:srgbClr val="1F262D"/>
                </a:solidFill>
                <a:latin typeface="Cambria" pitchFamily="34" charset="0"/>
                <a:ea typeface="Cambria" pitchFamily="34" charset="-122"/>
                <a:cs typeface="Cambria" pitchFamily="34" charset="-120"/>
              </a:rPr>
              <a:t>Runs the work</a:t>
            </a:r>
            <a:endParaRPr lang="en-US" sz="2000" dirty="0"/>
          </a:p>
        </p:txBody>
      </p:sp>
      <p:sp>
        <p:nvSpPr>
          <p:cNvPr id="9" name="Text 6"/>
          <p:cNvSpPr/>
          <p:nvPr/>
        </p:nvSpPr>
        <p:spPr>
          <a:xfrm>
            <a:off x="1051560" y="4343400"/>
            <a:ext cx="2560320" cy="1463040"/>
          </a:xfrm>
          <a:prstGeom prst="rect">
            <a:avLst/>
          </a:prstGeom>
          <a:noFill/>
          <a:ln/>
        </p:spPr>
        <p:txBody>
          <a:bodyPr wrap="square" lIns="0" tIns="0" rIns="0" bIns="0" rtlCol="0" anchor="t"/>
          <a:lstStyle/>
          <a:p>
            <a:pPr indent="0" marL="0">
              <a:lnSpc>
                <a:spcPct val="112000"/>
              </a:lnSpc>
              <a:buNone/>
            </a:pPr>
            <a:r>
              <a:rPr lang="en-US" sz="1350" dirty="0">
                <a:solidFill>
                  <a:srgbClr val="5C646C"/>
                </a:solidFill>
                <a:latin typeface="Calibri" pitchFamily="34" charset="0"/>
                <a:ea typeface="Calibri" pitchFamily="34" charset="-122"/>
                <a:cs typeface="Calibri" pitchFamily="34" charset="-120"/>
              </a:rPr>
              <a:t>Many loops, end to end — research, build, deploy — coordinated in parallel without you holding the plan in your head.</a:t>
            </a:r>
            <a:endParaRPr lang="en-US" sz="1350" dirty="0"/>
          </a:p>
        </p:txBody>
      </p:sp>
      <p:sp>
        <p:nvSpPr>
          <p:cNvPr id="10" name="Shape 7"/>
          <p:cNvSpPr/>
          <p:nvPr/>
        </p:nvSpPr>
        <p:spPr>
          <a:xfrm>
            <a:off x="4480560" y="2331720"/>
            <a:ext cx="3383280" cy="3703320"/>
          </a:xfrm>
          <a:prstGeom prst="roundRect">
            <a:avLst>
              <a:gd name="adj" fmla="val 2432"/>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1" name="Shape 8"/>
          <p:cNvSpPr/>
          <p:nvPr/>
        </p:nvSpPr>
        <p:spPr>
          <a:xfrm>
            <a:off x="4892040" y="2788920"/>
            <a:ext cx="777240" cy="777240"/>
          </a:xfrm>
          <a:prstGeom prst="ellipse">
            <a:avLst/>
          </a:prstGeom>
          <a:solidFill>
            <a:srgbClr val="1C9356"/>
          </a:solidFill>
          <a:ln/>
          <a:effectLst>
            <a:outerShdw sx="100000" sy="100000" kx="0" ky="0" algn="bl" rotWithShape="0" blurRad="88900" dist="38100" dir="5400000">
              <a:srgbClr val="000000">
                <a:alpha val="10000"/>
              </a:srgbClr>
            </a:outerShdw>
          </a:effectLst>
        </p:spPr>
      </p:sp>
      <p:pic>
        <p:nvPicPr>
          <p:cNvPr id="12" name="Image 1" descr="preencoded.png">    </p:cNvPr>
          <p:cNvPicPr>
            <a:picLocks noChangeAspect="1"/>
          </p:cNvPicPr>
          <p:nvPr/>
        </p:nvPicPr>
        <p:blipFill>
          <a:blip r:embed="rId2"/>
          <a:stretch>
            <a:fillRect/>
          </a:stretch>
        </p:blipFill>
        <p:spPr>
          <a:xfrm>
            <a:off x="5078578" y="2975458"/>
            <a:ext cx="404165" cy="404165"/>
          </a:xfrm>
          <a:prstGeom prst="rect">
            <a:avLst/>
          </a:prstGeom>
        </p:spPr>
      </p:pic>
      <p:sp>
        <p:nvSpPr>
          <p:cNvPr id="13" name="Text 9"/>
          <p:cNvSpPr/>
          <p:nvPr/>
        </p:nvSpPr>
        <p:spPr>
          <a:xfrm>
            <a:off x="4892040" y="3794760"/>
            <a:ext cx="2560320" cy="457200"/>
          </a:xfrm>
          <a:prstGeom prst="rect">
            <a:avLst/>
          </a:prstGeom>
          <a:noFill/>
          <a:ln/>
        </p:spPr>
        <p:txBody>
          <a:bodyPr wrap="square" lIns="0" tIns="0" rIns="0" bIns="0" rtlCol="0" anchor="ctr"/>
          <a:lstStyle/>
          <a:p>
            <a:pPr indent="0" marL="0">
              <a:buNone/>
            </a:pPr>
            <a:r>
              <a:rPr lang="en-US" sz="2000" b="1" dirty="0">
                <a:solidFill>
                  <a:srgbClr val="1F262D"/>
                </a:solidFill>
                <a:latin typeface="Cambria" pitchFamily="34" charset="0"/>
                <a:ea typeface="Cambria" pitchFamily="34" charset="-122"/>
                <a:cs typeface="Cambria" pitchFamily="34" charset="-120"/>
              </a:rPr>
              <a:t>Proves every change</a:t>
            </a:r>
            <a:endParaRPr lang="en-US" sz="2000" dirty="0"/>
          </a:p>
        </p:txBody>
      </p:sp>
      <p:sp>
        <p:nvSpPr>
          <p:cNvPr id="14" name="Text 10"/>
          <p:cNvSpPr/>
          <p:nvPr/>
        </p:nvSpPr>
        <p:spPr>
          <a:xfrm>
            <a:off x="4892040" y="4343400"/>
            <a:ext cx="2560320" cy="1463040"/>
          </a:xfrm>
          <a:prstGeom prst="rect">
            <a:avLst/>
          </a:prstGeom>
          <a:noFill/>
          <a:ln/>
        </p:spPr>
        <p:txBody>
          <a:bodyPr wrap="square" lIns="0" tIns="0" rIns="0" bIns="0" rtlCol="0" anchor="t"/>
          <a:lstStyle/>
          <a:p>
            <a:pPr indent="0" marL="0">
              <a:lnSpc>
                <a:spcPct val="112000"/>
              </a:lnSpc>
              <a:buNone/>
            </a:pPr>
            <a:r>
              <a:rPr lang="en-US" sz="1350" dirty="0">
                <a:solidFill>
                  <a:srgbClr val="5C646C"/>
                </a:solidFill>
                <a:latin typeface="Calibri" pitchFamily="34" charset="0"/>
                <a:ea typeface="Calibri" pitchFamily="34" charset="-122"/>
                <a:cs typeface="Calibri" pitchFamily="34" charset="-120"/>
              </a:rPr>
              <a:t>Nothing reaches you as 'I think it's done.' It arrives with evidence — a passing check, a screenshot of the working screen.</a:t>
            </a:r>
            <a:endParaRPr lang="en-US" sz="1350" dirty="0"/>
          </a:p>
        </p:txBody>
      </p:sp>
      <p:sp>
        <p:nvSpPr>
          <p:cNvPr id="15" name="Shape 11"/>
          <p:cNvSpPr/>
          <p:nvPr/>
        </p:nvSpPr>
        <p:spPr>
          <a:xfrm>
            <a:off x="8321040" y="2331720"/>
            <a:ext cx="3383280" cy="3703320"/>
          </a:xfrm>
          <a:prstGeom prst="roundRect">
            <a:avLst>
              <a:gd name="adj" fmla="val 2432"/>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6" name="Shape 12"/>
          <p:cNvSpPr/>
          <p:nvPr/>
        </p:nvSpPr>
        <p:spPr>
          <a:xfrm>
            <a:off x="8732520" y="2788920"/>
            <a:ext cx="777240" cy="777240"/>
          </a:xfrm>
          <a:prstGeom prst="ellipse">
            <a:avLst/>
          </a:prstGeom>
          <a:solidFill>
            <a:srgbClr val="DE560E"/>
          </a:solidFill>
          <a:ln/>
          <a:effectLst>
            <a:outerShdw sx="100000" sy="100000" kx="0" ky="0" algn="bl" rotWithShape="0" blurRad="88900" dist="38100" dir="5400000">
              <a:srgbClr val="000000">
                <a:alpha val="10000"/>
              </a:srgbClr>
            </a:outerShdw>
          </a:effectLst>
        </p:spPr>
      </p:sp>
      <p:pic>
        <p:nvPicPr>
          <p:cNvPr id="17" name="Image 2" descr="preencoded.png">    </p:cNvPr>
          <p:cNvPicPr>
            <a:picLocks noChangeAspect="1"/>
          </p:cNvPicPr>
          <p:nvPr/>
        </p:nvPicPr>
        <p:blipFill>
          <a:blip r:embed="rId3"/>
          <a:stretch>
            <a:fillRect/>
          </a:stretch>
        </p:blipFill>
        <p:spPr>
          <a:xfrm>
            <a:off x="8919058" y="2975458"/>
            <a:ext cx="404165" cy="404165"/>
          </a:xfrm>
          <a:prstGeom prst="rect">
            <a:avLst/>
          </a:prstGeom>
        </p:spPr>
      </p:pic>
      <p:sp>
        <p:nvSpPr>
          <p:cNvPr id="18" name="Text 13"/>
          <p:cNvSpPr/>
          <p:nvPr/>
        </p:nvSpPr>
        <p:spPr>
          <a:xfrm>
            <a:off x="8732520" y="3794760"/>
            <a:ext cx="2560320" cy="457200"/>
          </a:xfrm>
          <a:prstGeom prst="rect">
            <a:avLst/>
          </a:prstGeom>
          <a:noFill/>
          <a:ln/>
        </p:spPr>
        <p:txBody>
          <a:bodyPr wrap="square" lIns="0" tIns="0" rIns="0" bIns="0" rtlCol="0" anchor="ctr"/>
          <a:lstStyle/>
          <a:p>
            <a:pPr indent="0" marL="0">
              <a:buNone/>
            </a:pPr>
            <a:r>
              <a:rPr lang="en-US" sz="2000" b="1" dirty="0">
                <a:solidFill>
                  <a:srgbClr val="1F262D"/>
                </a:solidFill>
                <a:latin typeface="Cambria" pitchFamily="34" charset="0"/>
                <a:ea typeface="Cambria" pitchFamily="34" charset="-122"/>
                <a:cs typeface="Cambria" pitchFamily="34" charset="-120"/>
              </a:rPr>
              <a:t>Chases the humans</a:t>
            </a:r>
            <a:endParaRPr lang="en-US" sz="2000" dirty="0"/>
          </a:p>
        </p:txBody>
      </p:sp>
      <p:sp>
        <p:nvSpPr>
          <p:cNvPr id="19" name="Text 14"/>
          <p:cNvSpPr/>
          <p:nvPr/>
        </p:nvSpPr>
        <p:spPr>
          <a:xfrm>
            <a:off x="8732520" y="4343400"/>
            <a:ext cx="2560320" cy="1463040"/>
          </a:xfrm>
          <a:prstGeom prst="rect">
            <a:avLst/>
          </a:prstGeom>
          <a:noFill/>
          <a:ln/>
        </p:spPr>
        <p:txBody>
          <a:bodyPr wrap="square" lIns="0" tIns="0" rIns="0" bIns="0" rtlCol="0" anchor="t"/>
          <a:lstStyle/>
          <a:p>
            <a:pPr indent="0" marL="0">
              <a:lnSpc>
                <a:spcPct val="112000"/>
              </a:lnSpc>
              <a:buNone/>
            </a:pPr>
            <a:r>
              <a:rPr lang="en-US" sz="1350" dirty="0">
                <a:solidFill>
                  <a:srgbClr val="5C646C"/>
                </a:solidFill>
                <a:latin typeface="Calibri" pitchFamily="34" charset="0"/>
                <a:ea typeface="Calibri" pitchFamily="34" charset="-122"/>
                <a:cs typeface="Calibri" pitchFamily="34" charset="-120"/>
              </a:rPr>
              <a:t>For the one decision only a person can make, it reaches out and keeps reaching out until the block is cleared.</a:t>
            </a:r>
            <a:endParaRPr lang="en-US" sz="1350" dirty="0"/>
          </a:p>
        </p:txBody>
      </p:sp>
      <p:sp>
        <p:nvSpPr>
          <p:cNvPr id="20" name="Text 15"/>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DIFFERENTIATOR 01</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200" b="1" dirty="0">
                <a:solidFill>
                  <a:srgbClr val="1F262D"/>
                </a:solidFill>
                <a:latin typeface="Cambria" pitchFamily="34" charset="0"/>
                <a:ea typeface="Cambria" pitchFamily="34" charset="-122"/>
                <a:cs typeface="Cambria" pitchFamily="34" charset="-120"/>
              </a:rPr>
              <a:t>It chases you — and means it.</a:t>
            </a:r>
            <a:endParaRPr lang="en-US" sz="3200" dirty="0"/>
          </a:p>
        </p:txBody>
      </p:sp>
      <p:sp>
        <p:nvSpPr>
          <p:cNvPr id="4" name="Shape 2"/>
          <p:cNvSpPr/>
          <p:nvPr/>
        </p:nvSpPr>
        <p:spPr>
          <a:xfrm>
            <a:off x="640080" y="2148840"/>
            <a:ext cx="4572000" cy="3886200"/>
          </a:xfrm>
          <a:prstGeom prst="roundRect">
            <a:avLst>
              <a:gd name="adj" fmla="val 2118"/>
            </a:avLst>
          </a:prstGeom>
          <a:solidFill>
            <a:srgbClr val="F2F2E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5" name="Text 3"/>
          <p:cNvSpPr/>
          <p:nvPr/>
        </p:nvSpPr>
        <p:spPr>
          <a:xfrm>
            <a:off x="1051560" y="2514600"/>
            <a:ext cx="3749040" cy="320040"/>
          </a:xfrm>
          <a:prstGeom prst="rect">
            <a:avLst/>
          </a:prstGeom>
          <a:noFill/>
          <a:ln/>
        </p:spPr>
        <p:txBody>
          <a:bodyPr wrap="square" lIns="0" tIns="0" rIns="0" bIns="0" rtlCol="0" anchor="ctr"/>
          <a:lstStyle/>
          <a:p>
            <a:pPr indent="0" marL="0">
              <a:buNone/>
            </a:pPr>
            <a:r>
              <a:rPr lang="en-US" sz="1100" b="1" spc="200" kern="0" dirty="0">
                <a:solidFill>
                  <a:srgbClr val="B5430A"/>
                </a:solidFill>
                <a:latin typeface="Calibri" pitchFamily="34" charset="0"/>
                <a:ea typeface="Calibri" pitchFamily="34" charset="-122"/>
                <a:cs typeface="Calibri" pitchFamily="34" charset="-120"/>
              </a:rPr>
              <a:t>4:00 PM · SIX THREADS OPEN</a:t>
            </a:r>
            <a:endParaRPr lang="en-US" sz="1100" dirty="0"/>
          </a:p>
        </p:txBody>
      </p:sp>
      <p:sp>
        <p:nvSpPr>
          <p:cNvPr id="6" name="Text 4"/>
          <p:cNvSpPr/>
          <p:nvPr/>
        </p:nvSpPr>
        <p:spPr>
          <a:xfrm>
            <a:off x="1051560" y="3017520"/>
            <a:ext cx="3749040" cy="1371600"/>
          </a:xfrm>
          <a:prstGeom prst="rect">
            <a:avLst/>
          </a:prstGeom>
          <a:noFill/>
          <a:ln/>
        </p:spPr>
        <p:txBody>
          <a:bodyPr wrap="square" lIns="0" tIns="0" rIns="0" bIns="0" rtlCol="0" anchor="t"/>
          <a:lstStyle/>
          <a:p>
            <a:pPr indent="0" marL="0">
              <a:lnSpc>
                <a:spcPct val="115000"/>
              </a:lnSpc>
              <a:buNone/>
            </a:pPr>
            <a:r>
              <a:rPr lang="en-US" sz="1500" dirty="0">
                <a:solidFill>
                  <a:srgbClr val="1F262D"/>
                </a:solidFill>
                <a:latin typeface="Calibri" pitchFamily="34" charset="0"/>
                <a:ea typeface="Calibri" pitchFamily="34" charset="-122"/>
                <a:cs typeface="Calibri" pitchFamily="34" charset="-120"/>
              </a:rPr>
              <a:t>You kick off six loops across three clients, then drop into a call. A standard agent fires one desktop ping. You miss it. An hour later, nothing has moved.</a:t>
            </a:r>
            <a:endParaRPr lang="en-US" sz="1500" dirty="0"/>
          </a:p>
        </p:txBody>
      </p:sp>
      <p:sp>
        <p:nvSpPr>
          <p:cNvPr id="7" name="Text 5"/>
          <p:cNvSpPr/>
          <p:nvPr/>
        </p:nvSpPr>
        <p:spPr>
          <a:xfrm>
            <a:off x="1051560" y="4846320"/>
            <a:ext cx="3749040" cy="914400"/>
          </a:xfrm>
          <a:prstGeom prst="rect">
            <a:avLst/>
          </a:prstGeom>
          <a:noFill/>
          <a:ln/>
        </p:spPr>
        <p:txBody>
          <a:bodyPr wrap="square" lIns="0" tIns="0" rIns="0" bIns="0" rtlCol="0" anchor="t"/>
          <a:lstStyle/>
          <a:p>
            <a:pPr indent="0" marL="0">
              <a:lnSpc>
                <a:spcPct val="110000"/>
              </a:lnSpc>
              <a:buNone/>
            </a:pPr>
            <a:r>
              <a:rPr lang="en-US" sz="1700" b="1" i="1" dirty="0">
                <a:solidFill>
                  <a:srgbClr val="1F262D"/>
                </a:solidFill>
                <a:latin typeface="Cambria" pitchFamily="34" charset="0"/>
                <a:ea typeface="Cambria" pitchFamily="34" charset="-122"/>
                <a:cs typeface="Cambria" pitchFamily="34" charset="-120"/>
              </a:rPr>
              <a:t>Operant treats “waiting on a human” as an active state, not a dead end.</a:t>
            </a:r>
            <a:endParaRPr lang="en-US" sz="1700" dirty="0"/>
          </a:p>
        </p:txBody>
      </p:sp>
      <p:sp>
        <p:nvSpPr>
          <p:cNvPr id="8" name="Text 6"/>
          <p:cNvSpPr/>
          <p:nvPr/>
        </p:nvSpPr>
        <p:spPr>
          <a:xfrm>
            <a:off x="5760720" y="2194560"/>
            <a:ext cx="5788152" cy="320040"/>
          </a:xfrm>
          <a:prstGeom prst="rect">
            <a:avLst/>
          </a:prstGeom>
          <a:noFill/>
          <a:ln/>
        </p:spPr>
        <p:txBody>
          <a:bodyPr wrap="square" lIns="0" tIns="0" rIns="0" bIns="0" rtlCol="0" anchor="ctr"/>
          <a:lstStyle/>
          <a:p>
            <a:pPr indent="0" marL="0">
              <a:buNone/>
            </a:pPr>
            <a:r>
              <a:rPr lang="en-US" sz="1300" b="1" dirty="0">
                <a:solidFill>
                  <a:srgbClr val="5C646C"/>
                </a:solidFill>
                <a:latin typeface="Calibri" pitchFamily="34" charset="0"/>
                <a:ea typeface="Calibri" pitchFamily="34" charset="-122"/>
                <a:cs typeface="Calibri" pitchFamily="34" charset="-120"/>
              </a:rPr>
              <a:t>Underneath the manners is machinery:</a:t>
            </a:r>
            <a:endParaRPr lang="en-US" sz="1300" dirty="0"/>
          </a:p>
        </p:txBody>
      </p:sp>
      <p:sp>
        <p:nvSpPr>
          <p:cNvPr id="9" name="Shape 7"/>
          <p:cNvSpPr/>
          <p:nvPr/>
        </p:nvSpPr>
        <p:spPr>
          <a:xfrm>
            <a:off x="5760720" y="2606040"/>
            <a:ext cx="5788152" cy="868680"/>
          </a:xfrm>
          <a:prstGeom prst="roundRect">
            <a:avLst>
              <a:gd name="adj" fmla="val 9474"/>
            </a:avLst>
          </a:prstGeom>
          <a:solidFill>
            <a:srgbClr val="161B20"/>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0" name="Text 8"/>
          <p:cNvSpPr/>
          <p:nvPr/>
        </p:nvSpPr>
        <p:spPr>
          <a:xfrm>
            <a:off x="6126480" y="2606040"/>
            <a:ext cx="5056632" cy="86868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DECISION GATE   </a:t>
            </a:r>
            <a:pPr indent="0" marL="0">
              <a:buNone/>
            </a:pPr>
            <a:r>
              <a:rPr lang="en-US" sz="1500" i="1" dirty="0">
                <a:solidFill>
                  <a:srgbClr val="DE560E"/>
                </a:solidFill>
                <a:latin typeface="Cambria" pitchFamily="34" charset="0"/>
                <a:ea typeface="Cambria" pitchFamily="34" charset="-122"/>
                <a:cs typeface="Cambria" pitchFamily="34" charset="-120"/>
              </a:rPr>
              <a:t>waiting on you</a:t>
            </a:r>
            <a:endParaRPr lang="en-US" sz="1300" dirty="0"/>
          </a:p>
        </p:txBody>
      </p:sp>
      <p:sp>
        <p:nvSpPr>
          <p:cNvPr id="11" name="Shape 9"/>
          <p:cNvSpPr/>
          <p:nvPr/>
        </p:nvSpPr>
        <p:spPr>
          <a:xfrm>
            <a:off x="5760720" y="3749040"/>
            <a:ext cx="1746504" cy="868680"/>
          </a:xfrm>
          <a:prstGeom prst="roundRect">
            <a:avLst>
              <a:gd name="adj" fmla="val 9474"/>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pic>
        <p:nvPicPr>
          <p:cNvPr id="12" name="Image 0" descr="preencoded.png">    </p:cNvPr>
          <p:cNvPicPr>
            <a:picLocks noChangeAspect="1"/>
          </p:cNvPicPr>
          <p:nvPr/>
        </p:nvPicPr>
        <p:blipFill>
          <a:blip r:embed="rId1"/>
          <a:stretch>
            <a:fillRect/>
          </a:stretch>
        </p:blipFill>
        <p:spPr>
          <a:xfrm>
            <a:off x="6451092" y="3895344"/>
            <a:ext cx="365760" cy="365760"/>
          </a:xfrm>
          <a:prstGeom prst="rect">
            <a:avLst/>
          </a:prstGeom>
        </p:spPr>
      </p:pic>
      <p:sp>
        <p:nvSpPr>
          <p:cNvPr id="13" name="Text 10"/>
          <p:cNvSpPr/>
          <p:nvPr/>
        </p:nvSpPr>
        <p:spPr>
          <a:xfrm>
            <a:off x="5760720" y="4251960"/>
            <a:ext cx="1746504" cy="292608"/>
          </a:xfrm>
          <a:prstGeom prst="rect">
            <a:avLst/>
          </a:prstGeom>
          <a:noFill/>
          <a:ln/>
        </p:spPr>
        <p:txBody>
          <a:bodyPr wrap="square" lIns="0" tIns="0" rIns="0" bIns="0" rtlCol="0" anchor="ctr"/>
          <a:lstStyle/>
          <a:p>
            <a:pPr algn="ctr" indent="0" marL="0">
              <a:buNone/>
            </a:pPr>
            <a:r>
              <a:rPr lang="en-US" sz="1200" b="1" dirty="0">
                <a:solidFill>
                  <a:srgbClr val="1F262D"/>
                </a:solidFill>
                <a:latin typeface="Calibri" pitchFamily="34" charset="0"/>
                <a:ea typeface="Calibri" pitchFamily="34" charset="-122"/>
                <a:cs typeface="Calibri" pitchFamily="34" charset="-120"/>
              </a:rPr>
              <a:t>chat</a:t>
            </a:r>
            <a:endParaRPr lang="en-US" sz="1200" dirty="0"/>
          </a:p>
        </p:txBody>
      </p:sp>
      <p:sp>
        <p:nvSpPr>
          <p:cNvPr id="14" name="Shape 11"/>
          <p:cNvSpPr/>
          <p:nvPr/>
        </p:nvSpPr>
        <p:spPr>
          <a:xfrm>
            <a:off x="7781544" y="3749040"/>
            <a:ext cx="1746504" cy="868680"/>
          </a:xfrm>
          <a:prstGeom prst="roundRect">
            <a:avLst>
              <a:gd name="adj" fmla="val 9474"/>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pic>
        <p:nvPicPr>
          <p:cNvPr id="15" name="Image 1" descr="preencoded.png">    </p:cNvPr>
          <p:cNvPicPr>
            <a:picLocks noChangeAspect="1"/>
          </p:cNvPicPr>
          <p:nvPr/>
        </p:nvPicPr>
        <p:blipFill>
          <a:blip r:embed="rId2"/>
          <a:stretch>
            <a:fillRect/>
          </a:stretch>
        </p:blipFill>
        <p:spPr>
          <a:xfrm>
            <a:off x="8471916" y="3895344"/>
            <a:ext cx="365760" cy="365760"/>
          </a:xfrm>
          <a:prstGeom prst="rect">
            <a:avLst/>
          </a:prstGeom>
        </p:spPr>
      </p:pic>
      <p:sp>
        <p:nvSpPr>
          <p:cNvPr id="16" name="Text 12"/>
          <p:cNvSpPr/>
          <p:nvPr/>
        </p:nvSpPr>
        <p:spPr>
          <a:xfrm>
            <a:off x="7781544" y="4251960"/>
            <a:ext cx="1746504" cy="292608"/>
          </a:xfrm>
          <a:prstGeom prst="rect">
            <a:avLst/>
          </a:prstGeom>
          <a:noFill/>
          <a:ln/>
        </p:spPr>
        <p:txBody>
          <a:bodyPr wrap="square" lIns="0" tIns="0" rIns="0" bIns="0" rtlCol="0" anchor="ctr"/>
          <a:lstStyle/>
          <a:p>
            <a:pPr algn="ctr" indent="0" marL="0">
              <a:buNone/>
            </a:pPr>
            <a:r>
              <a:rPr lang="en-US" sz="1200" b="1" dirty="0">
                <a:solidFill>
                  <a:srgbClr val="1F262D"/>
                </a:solidFill>
                <a:latin typeface="Calibri" pitchFamily="34" charset="0"/>
                <a:ea typeface="Calibri" pitchFamily="34" charset="-122"/>
                <a:cs typeface="Calibri" pitchFamily="34" charset="-120"/>
              </a:rPr>
              <a:t>email</a:t>
            </a:r>
            <a:endParaRPr lang="en-US" sz="1200" dirty="0"/>
          </a:p>
        </p:txBody>
      </p:sp>
      <p:sp>
        <p:nvSpPr>
          <p:cNvPr id="17" name="Shape 13"/>
          <p:cNvSpPr/>
          <p:nvPr/>
        </p:nvSpPr>
        <p:spPr>
          <a:xfrm>
            <a:off x="9802368" y="3749040"/>
            <a:ext cx="1746504" cy="868680"/>
          </a:xfrm>
          <a:prstGeom prst="roundRect">
            <a:avLst>
              <a:gd name="adj" fmla="val 9474"/>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pic>
        <p:nvPicPr>
          <p:cNvPr id="18" name="Image 2" descr="preencoded.png">    </p:cNvPr>
          <p:cNvPicPr>
            <a:picLocks noChangeAspect="1"/>
          </p:cNvPicPr>
          <p:nvPr/>
        </p:nvPicPr>
        <p:blipFill>
          <a:blip r:embed="rId3"/>
          <a:stretch>
            <a:fillRect/>
          </a:stretch>
        </p:blipFill>
        <p:spPr>
          <a:xfrm>
            <a:off x="10492740" y="3895344"/>
            <a:ext cx="365760" cy="365760"/>
          </a:xfrm>
          <a:prstGeom prst="rect">
            <a:avLst/>
          </a:prstGeom>
        </p:spPr>
      </p:pic>
      <p:sp>
        <p:nvSpPr>
          <p:cNvPr id="19" name="Text 14"/>
          <p:cNvSpPr/>
          <p:nvPr/>
        </p:nvSpPr>
        <p:spPr>
          <a:xfrm>
            <a:off x="9802368" y="4251960"/>
            <a:ext cx="1746504" cy="292608"/>
          </a:xfrm>
          <a:prstGeom prst="rect">
            <a:avLst/>
          </a:prstGeom>
          <a:noFill/>
          <a:ln/>
        </p:spPr>
        <p:txBody>
          <a:bodyPr wrap="square" lIns="0" tIns="0" rIns="0" bIns="0" rtlCol="0" anchor="ctr"/>
          <a:lstStyle/>
          <a:p>
            <a:pPr algn="ctr" indent="0" marL="0">
              <a:buNone/>
            </a:pPr>
            <a:r>
              <a:rPr lang="en-US" sz="1200" b="1" dirty="0">
                <a:solidFill>
                  <a:srgbClr val="1F262D"/>
                </a:solidFill>
                <a:latin typeface="Calibri" pitchFamily="34" charset="0"/>
                <a:ea typeface="Calibri" pitchFamily="34" charset="-122"/>
                <a:cs typeface="Calibri" pitchFamily="34" charset="-120"/>
              </a:rPr>
              <a:t>voice</a:t>
            </a:r>
            <a:endParaRPr lang="en-US" sz="1200" dirty="0"/>
          </a:p>
        </p:txBody>
      </p:sp>
      <p:sp>
        <p:nvSpPr>
          <p:cNvPr id="20" name="Shape 15"/>
          <p:cNvSpPr/>
          <p:nvPr/>
        </p:nvSpPr>
        <p:spPr>
          <a:xfrm>
            <a:off x="5760720" y="4892040"/>
            <a:ext cx="5788152" cy="868680"/>
          </a:xfrm>
          <a:prstGeom prst="roundRect">
            <a:avLst>
              <a:gd name="adj" fmla="val 9474"/>
            </a:avLst>
          </a:prstGeom>
          <a:solidFill>
            <a:srgbClr val="FBE7DC"/>
          </a:solidFill>
          <a:ln w="12700">
            <a:solidFill>
              <a:srgbClr val="D6D8D3"/>
            </a:solidFill>
            <a:prstDash val="solid"/>
          </a:ln>
        </p:spPr>
      </p:sp>
      <p:pic>
        <p:nvPicPr>
          <p:cNvPr id="21" name="Image 3" descr="preencoded.png">    </p:cNvPr>
          <p:cNvPicPr>
            <a:picLocks noChangeAspect="1"/>
          </p:cNvPicPr>
          <p:nvPr/>
        </p:nvPicPr>
        <p:blipFill>
          <a:blip r:embed="rId4"/>
          <a:stretch>
            <a:fillRect/>
          </a:stretch>
        </p:blipFill>
        <p:spPr>
          <a:xfrm>
            <a:off x="6080760" y="5120640"/>
            <a:ext cx="411480" cy="411480"/>
          </a:xfrm>
          <a:prstGeom prst="rect">
            <a:avLst/>
          </a:prstGeom>
        </p:spPr>
      </p:pic>
      <p:sp>
        <p:nvSpPr>
          <p:cNvPr id="22" name="Text 16"/>
          <p:cNvSpPr/>
          <p:nvPr/>
        </p:nvSpPr>
        <p:spPr>
          <a:xfrm>
            <a:off x="6675120" y="4892040"/>
            <a:ext cx="4645152" cy="868680"/>
          </a:xfrm>
          <a:prstGeom prst="rect">
            <a:avLst/>
          </a:prstGeom>
          <a:noFill/>
          <a:ln/>
        </p:spPr>
        <p:txBody>
          <a:bodyPr wrap="square" lIns="0" tIns="0" rIns="0" bIns="0" rtlCol="0" anchor="ctr"/>
          <a:lstStyle/>
          <a:p>
            <a:pPr indent="0" marL="0">
              <a:lnSpc>
                <a:spcPct val="105000"/>
              </a:lnSpc>
              <a:buNone/>
            </a:pPr>
            <a:r>
              <a:rPr lang="en-US" sz="1300" b="1" dirty="0">
                <a:solidFill>
                  <a:srgbClr val="1F262D"/>
                </a:solidFill>
                <a:latin typeface="Calibri" pitchFamily="34" charset="0"/>
                <a:ea typeface="Calibri" pitchFamily="34" charset="-122"/>
                <a:cs typeface="Calibri" pitchFamily="34" charset="-120"/>
              </a:rPr>
              <a:t>Routes across channels and escalates on a timer. </a:t>
            </a:r>
            <a:pPr indent="0" marL="0">
              <a:lnSpc>
                <a:spcPct val="105000"/>
              </a:lnSpc>
              <a:buNone/>
            </a:pPr>
            <a:r>
              <a:rPr lang="en-US" sz="1300" dirty="0">
                <a:solidFill>
                  <a:srgbClr val="B5430A"/>
                </a:solidFill>
                <a:latin typeface="Calibri" pitchFamily="34" charset="0"/>
                <a:ea typeface="Calibri" pitchFamily="34" charset="-122"/>
                <a:cs typeface="Calibri" pitchFamily="34" charset="-120"/>
              </a:rPr>
              <a:t>A missed message is retried and re-routed — not silently dropped.</a:t>
            </a:r>
            <a:endParaRPr lang="en-US" sz="1300" dirty="0"/>
          </a:p>
        </p:txBody>
      </p:sp>
      <p:sp>
        <p:nvSpPr>
          <p:cNvPr id="23" name="Text 17"/>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DIFFERENTIATOR 02</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200" b="1" dirty="0">
                <a:solidFill>
                  <a:srgbClr val="1F262D"/>
                </a:solidFill>
                <a:latin typeface="Cambria" pitchFamily="34" charset="0"/>
                <a:ea typeface="Cambria" pitchFamily="34" charset="-122"/>
                <a:cs typeface="Cambria" pitchFamily="34" charset="-120"/>
              </a:rPr>
              <a:t>A pipeline, not a prompt.</a:t>
            </a:r>
            <a:endParaRPr lang="en-US" sz="3200" dirty="0"/>
          </a:p>
        </p:txBody>
      </p:sp>
      <p:sp>
        <p:nvSpPr>
          <p:cNvPr id="4" name="Text 2"/>
          <p:cNvSpPr/>
          <p:nvPr/>
        </p:nvSpPr>
        <p:spPr>
          <a:xfrm>
            <a:off x="640080" y="1627632"/>
            <a:ext cx="10607040" cy="457200"/>
          </a:xfrm>
          <a:prstGeom prst="rect">
            <a:avLst/>
          </a:prstGeom>
          <a:noFill/>
          <a:ln/>
        </p:spPr>
        <p:txBody>
          <a:bodyPr wrap="square" lIns="0" tIns="0" rIns="0" bIns="0" rtlCol="0" anchor="ctr"/>
          <a:lstStyle/>
          <a:p>
            <a:pPr indent="0" marL="0">
              <a:lnSpc>
                <a:spcPct val="110000"/>
              </a:lnSpc>
              <a:buNone/>
            </a:pPr>
            <a:r>
              <a:rPr lang="en-US" sz="1500" dirty="0">
                <a:solidFill>
                  <a:srgbClr val="5C646C"/>
                </a:solidFill>
                <a:latin typeface="Calibri" pitchFamily="34" charset="0"/>
                <a:ea typeface="Calibri" pitchFamily="34" charset="-122"/>
                <a:cs typeface="Calibri" pitchFamily="34" charset="-120"/>
              </a:rPr>
              <a:t>The harness runs on a deterministic state machine — defined states and transitions, written in ordinary code, not improvised by the model.</a:t>
            </a:r>
            <a:endParaRPr lang="en-US" sz="1500" dirty="0"/>
          </a:p>
        </p:txBody>
      </p:sp>
      <p:sp>
        <p:nvSpPr>
          <p:cNvPr id="5" name="Shape 3"/>
          <p:cNvSpPr/>
          <p:nvPr/>
        </p:nvSpPr>
        <p:spPr>
          <a:xfrm>
            <a:off x="640080" y="2606040"/>
            <a:ext cx="1783080" cy="914400"/>
          </a:xfrm>
          <a:prstGeom prst="roundRect">
            <a:avLst>
              <a:gd name="adj" fmla="val 9000"/>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6" name="Text 4"/>
          <p:cNvSpPr/>
          <p:nvPr/>
        </p:nvSpPr>
        <p:spPr>
          <a:xfrm>
            <a:off x="640080" y="2606040"/>
            <a:ext cx="1783080" cy="914400"/>
          </a:xfrm>
          <a:prstGeom prst="rect">
            <a:avLst/>
          </a:prstGeom>
          <a:noFill/>
          <a:ln/>
        </p:spPr>
        <p:txBody>
          <a:bodyPr wrap="square" lIns="0" tIns="0" rIns="0" bIns="0" rtlCol="0" anchor="ctr"/>
          <a:lstStyle/>
          <a:p>
            <a:pPr algn="ctr" indent="0" marL="0">
              <a:buNone/>
            </a:pPr>
            <a:r>
              <a:rPr lang="en-US" sz="1800" b="1" dirty="0">
                <a:solidFill>
                  <a:srgbClr val="1F262D"/>
                </a:solidFill>
                <a:latin typeface="Cambria" pitchFamily="34" charset="0"/>
                <a:ea typeface="Cambria" pitchFamily="34" charset="-122"/>
                <a:cs typeface="Cambria" pitchFamily="34" charset="-120"/>
              </a:rPr>
              <a:t>Spec</a:t>
            </a:r>
            <a:endParaRPr lang="en-US" sz="1800" dirty="0"/>
          </a:p>
        </p:txBody>
      </p:sp>
      <p:pic>
        <p:nvPicPr>
          <p:cNvPr id="7" name="Image 0" descr="preencoded.png">    </p:cNvPr>
          <p:cNvPicPr>
            <a:picLocks noChangeAspect="1"/>
          </p:cNvPicPr>
          <p:nvPr/>
        </p:nvPicPr>
        <p:blipFill>
          <a:blip r:embed="rId1"/>
          <a:stretch>
            <a:fillRect/>
          </a:stretch>
        </p:blipFill>
        <p:spPr>
          <a:xfrm>
            <a:off x="2496312" y="2944368"/>
            <a:ext cx="237744" cy="237744"/>
          </a:xfrm>
          <a:prstGeom prst="rect">
            <a:avLst/>
          </a:prstGeom>
        </p:spPr>
      </p:pic>
      <p:sp>
        <p:nvSpPr>
          <p:cNvPr id="8" name="Shape 5"/>
          <p:cNvSpPr/>
          <p:nvPr/>
        </p:nvSpPr>
        <p:spPr>
          <a:xfrm>
            <a:off x="2807208" y="2606040"/>
            <a:ext cx="1783080" cy="914400"/>
          </a:xfrm>
          <a:prstGeom prst="roundRect">
            <a:avLst>
              <a:gd name="adj" fmla="val 9000"/>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9" name="Text 6"/>
          <p:cNvSpPr/>
          <p:nvPr/>
        </p:nvSpPr>
        <p:spPr>
          <a:xfrm>
            <a:off x="2807208" y="2606040"/>
            <a:ext cx="1783080" cy="914400"/>
          </a:xfrm>
          <a:prstGeom prst="rect">
            <a:avLst/>
          </a:prstGeom>
          <a:noFill/>
          <a:ln/>
        </p:spPr>
        <p:txBody>
          <a:bodyPr wrap="square" lIns="0" tIns="0" rIns="0" bIns="0" rtlCol="0" anchor="ctr"/>
          <a:lstStyle/>
          <a:p>
            <a:pPr algn="ctr" indent="0" marL="0">
              <a:buNone/>
            </a:pPr>
            <a:r>
              <a:rPr lang="en-US" sz="1800" b="1" dirty="0">
                <a:solidFill>
                  <a:srgbClr val="1F262D"/>
                </a:solidFill>
                <a:latin typeface="Cambria" pitchFamily="34" charset="0"/>
                <a:ea typeface="Cambria" pitchFamily="34" charset="-122"/>
                <a:cs typeface="Cambria" pitchFamily="34" charset="-120"/>
              </a:rPr>
              <a:t>Build</a:t>
            </a:r>
            <a:endParaRPr lang="en-US" sz="1800" dirty="0"/>
          </a:p>
        </p:txBody>
      </p:sp>
      <p:pic>
        <p:nvPicPr>
          <p:cNvPr id="10" name="Image 1" descr="preencoded.png">    </p:cNvPr>
          <p:cNvPicPr>
            <a:picLocks noChangeAspect="1"/>
          </p:cNvPicPr>
          <p:nvPr/>
        </p:nvPicPr>
        <p:blipFill>
          <a:blip r:embed="rId2"/>
          <a:stretch>
            <a:fillRect/>
          </a:stretch>
        </p:blipFill>
        <p:spPr>
          <a:xfrm>
            <a:off x="4663440" y="2944368"/>
            <a:ext cx="237744" cy="237744"/>
          </a:xfrm>
          <a:prstGeom prst="rect">
            <a:avLst/>
          </a:prstGeom>
        </p:spPr>
      </p:pic>
      <p:sp>
        <p:nvSpPr>
          <p:cNvPr id="11" name="Shape 7"/>
          <p:cNvSpPr/>
          <p:nvPr/>
        </p:nvSpPr>
        <p:spPr>
          <a:xfrm>
            <a:off x="4974336" y="2606040"/>
            <a:ext cx="1783080" cy="914400"/>
          </a:xfrm>
          <a:prstGeom prst="roundRect">
            <a:avLst>
              <a:gd name="adj" fmla="val 9000"/>
            </a:avLst>
          </a:prstGeom>
          <a:solidFill>
            <a:srgbClr val="E7F3EC"/>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2" name="Text 8"/>
          <p:cNvSpPr/>
          <p:nvPr/>
        </p:nvSpPr>
        <p:spPr>
          <a:xfrm>
            <a:off x="4974336" y="2606040"/>
            <a:ext cx="1783080" cy="914400"/>
          </a:xfrm>
          <a:prstGeom prst="rect">
            <a:avLst/>
          </a:prstGeom>
          <a:noFill/>
          <a:ln/>
        </p:spPr>
        <p:txBody>
          <a:bodyPr wrap="square" lIns="0" tIns="0" rIns="0" bIns="0" rtlCol="0" anchor="ctr"/>
          <a:lstStyle/>
          <a:p>
            <a:pPr algn="ctr" indent="0" marL="0">
              <a:buNone/>
            </a:pPr>
            <a:r>
              <a:rPr lang="en-US" sz="1800" b="1" dirty="0">
                <a:solidFill>
                  <a:srgbClr val="136B3F"/>
                </a:solidFill>
                <a:latin typeface="Cambria" pitchFamily="34" charset="0"/>
                <a:ea typeface="Cambria" pitchFamily="34" charset="-122"/>
                <a:cs typeface="Cambria" pitchFamily="34" charset="-120"/>
              </a:rPr>
              <a:t>Verify</a:t>
            </a:r>
            <a:endParaRPr lang="en-US" sz="1800" dirty="0"/>
          </a:p>
        </p:txBody>
      </p:sp>
      <p:pic>
        <p:nvPicPr>
          <p:cNvPr id="13" name="Image 2" descr="preencoded.png">    </p:cNvPr>
          <p:cNvPicPr>
            <a:picLocks noChangeAspect="1"/>
          </p:cNvPicPr>
          <p:nvPr/>
        </p:nvPicPr>
        <p:blipFill>
          <a:blip r:embed="rId3"/>
          <a:stretch>
            <a:fillRect/>
          </a:stretch>
        </p:blipFill>
        <p:spPr>
          <a:xfrm>
            <a:off x="6830568" y="2944368"/>
            <a:ext cx="237744" cy="237744"/>
          </a:xfrm>
          <a:prstGeom prst="rect">
            <a:avLst/>
          </a:prstGeom>
        </p:spPr>
      </p:pic>
      <p:sp>
        <p:nvSpPr>
          <p:cNvPr id="14" name="Shape 9"/>
          <p:cNvSpPr/>
          <p:nvPr/>
        </p:nvSpPr>
        <p:spPr>
          <a:xfrm>
            <a:off x="7141464" y="2606040"/>
            <a:ext cx="1783080" cy="914400"/>
          </a:xfrm>
          <a:prstGeom prst="roundRect">
            <a:avLst>
              <a:gd name="adj" fmla="val 9000"/>
            </a:avLst>
          </a:prstGeom>
          <a:solidFill>
            <a:srgbClr val="161B20"/>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5" name="Text 10"/>
          <p:cNvSpPr/>
          <p:nvPr/>
        </p:nvSpPr>
        <p:spPr>
          <a:xfrm>
            <a:off x="7141464" y="2606040"/>
            <a:ext cx="178308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Gate</a:t>
            </a:r>
            <a:endParaRPr lang="en-US" sz="1800" dirty="0"/>
          </a:p>
        </p:txBody>
      </p:sp>
      <p:pic>
        <p:nvPicPr>
          <p:cNvPr id="16" name="Image 3" descr="preencoded.png">    </p:cNvPr>
          <p:cNvPicPr>
            <a:picLocks noChangeAspect="1"/>
          </p:cNvPicPr>
          <p:nvPr/>
        </p:nvPicPr>
        <p:blipFill>
          <a:blip r:embed="rId4"/>
          <a:stretch>
            <a:fillRect/>
          </a:stretch>
        </p:blipFill>
        <p:spPr>
          <a:xfrm>
            <a:off x="8997696" y="2944368"/>
            <a:ext cx="237744" cy="237744"/>
          </a:xfrm>
          <a:prstGeom prst="rect">
            <a:avLst/>
          </a:prstGeom>
        </p:spPr>
      </p:pic>
      <p:sp>
        <p:nvSpPr>
          <p:cNvPr id="17" name="Shape 11"/>
          <p:cNvSpPr/>
          <p:nvPr/>
        </p:nvSpPr>
        <p:spPr>
          <a:xfrm>
            <a:off x="9308592" y="2606040"/>
            <a:ext cx="1783080" cy="914400"/>
          </a:xfrm>
          <a:prstGeom prst="roundRect">
            <a:avLst>
              <a:gd name="adj" fmla="val 9000"/>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8" name="Text 12"/>
          <p:cNvSpPr/>
          <p:nvPr/>
        </p:nvSpPr>
        <p:spPr>
          <a:xfrm>
            <a:off x="9308592" y="2606040"/>
            <a:ext cx="1783080" cy="914400"/>
          </a:xfrm>
          <a:prstGeom prst="rect">
            <a:avLst/>
          </a:prstGeom>
          <a:noFill/>
          <a:ln/>
        </p:spPr>
        <p:txBody>
          <a:bodyPr wrap="square" lIns="0" tIns="0" rIns="0" bIns="0" rtlCol="0" anchor="ctr"/>
          <a:lstStyle/>
          <a:p>
            <a:pPr algn="ctr" indent="0" marL="0">
              <a:buNone/>
            </a:pPr>
            <a:r>
              <a:rPr lang="en-US" sz="1800" b="1" dirty="0">
                <a:solidFill>
                  <a:srgbClr val="1F262D"/>
                </a:solidFill>
                <a:latin typeface="Cambria" pitchFamily="34" charset="0"/>
                <a:ea typeface="Cambria" pitchFamily="34" charset="-122"/>
                <a:cs typeface="Cambria" pitchFamily="34" charset="-120"/>
              </a:rPr>
              <a:t>Ship</a:t>
            </a:r>
            <a:endParaRPr lang="en-US" sz="1800" dirty="0"/>
          </a:p>
        </p:txBody>
      </p:sp>
      <p:sp>
        <p:nvSpPr>
          <p:cNvPr id="19" name="Shape 13"/>
          <p:cNvSpPr/>
          <p:nvPr/>
        </p:nvSpPr>
        <p:spPr>
          <a:xfrm>
            <a:off x="1005840" y="4023360"/>
            <a:ext cx="7936992" cy="0"/>
          </a:xfrm>
          <a:prstGeom prst="line">
            <a:avLst/>
          </a:prstGeom>
          <a:noFill/>
          <a:ln w="19050">
            <a:solidFill>
              <a:srgbClr val="DE560E"/>
            </a:solidFill>
            <a:prstDash val="dash"/>
            <a:headEnd type="triangle"/>
            <a:tailEnd type="triangle"/>
          </a:ln>
        </p:spPr>
      </p:sp>
      <p:sp>
        <p:nvSpPr>
          <p:cNvPr id="20" name="Text 14"/>
          <p:cNvSpPr/>
          <p:nvPr/>
        </p:nvSpPr>
        <p:spPr>
          <a:xfrm>
            <a:off x="640080" y="4087368"/>
            <a:ext cx="10451592" cy="320040"/>
          </a:xfrm>
          <a:prstGeom prst="rect">
            <a:avLst/>
          </a:prstGeom>
          <a:noFill/>
          <a:ln/>
        </p:spPr>
        <p:txBody>
          <a:bodyPr wrap="square" lIns="0" tIns="0" rIns="0" bIns="0" rtlCol="0" anchor="ctr"/>
          <a:lstStyle/>
          <a:p>
            <a:pPr algn="ctr" indent="0" marL="0">
              <a:buNone/>
            </a:pPr>
            <a:r>
              <a:rPr lang="en-US" sz="1200" i="1" dirty="0">
                <a:solidFill>
                  <a:srgbClr val="B5430A"/>
                </a:solidFill>
                <a:latin typeface="Calibri" pitchFamily="34" charset="0"/>
                <a:ea typeface="Calibri" pitchFamily="34" charset="-122"/>
                <a:cs typeface="Calibri" pitchFamily="34" charset="-120"/>
              </a:rPr>
              <a:t>resume after a crash — file-based state, nothing lost</a:t>
            </a:r>
            <a:endParaRPr lang="en-US" sz="1200" dirty="0"/>
          </a:p>
        </p:txBody>
      </p:sp>
      <p:sp>
        <p:nvSpPr>
          <p:cNvPr id="21" name="Shape 15"/>
          <p:cNvSpPr/>
          <p:nvPr/>
        </p:nvSpPr>
        <p:spPr>
          <a:xfrm>
            <a:off x="640080" y="4983480"/>
            <a:ext cx="10908792" cy="1325880"/>
          </a:xfrm>
          <a:prstGeom prst="roundRect">
            <a:avLst>
              <a:gd name="adj" fmla="val 6207"/>
            </a:avLst>
          </a:prstGeom>
          <a:solidFill>
            <a:srgbClr val="F2F2E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22" name="Text 16"/>
          <p:cNvSpPr/>
          <p:nvPr/>
        </p:nvSpPr>
        <p:spPr>
          <a:xfrm>
            <a:off x="1097280" y="5239512"/>
            <a:ext cx="4754880" cy="457200"/>
          </a:xfrm>
          <a:prstGeom prst="rect">
            <a:avLst/>
          </a:prstGeom>
          <a:noFill/>
          <a:ln/>
        </p:spPr>
        <p:txBody>
          <a:bodyPr wrap="square" lIns="0" tIns="0" rIns="0" bIns="0" rtlCol="0" anchor="ctr"/>
          <a:lstStyle/>
          <a:p>
            <a:pPr indent="0" marL="0">
              <a:buNone/>
            </a:pPr>
            <a:r>
              <a:rPr lang="en-US" sz="1700" b="1" dirty="0">
                <a:solidFill>
                  <a:srgbClr val="1F262D"/>
                </a:solidFill>
                <a:latin typeface="Calibri" pitchFamily="34" charset="0"/>
                <a:ea typeface="Calibri" pitchFamily="34" charset="-122"/>
                <a:cs typeface="Calibri" pitchFamily="34" charset="-120"/>
              </a:rPr>
              <a:t>read status, then continue</a:t>
            </a:r>
            <a:endParaRPr lang="en-US" sz="1700" dirty="0"/>
          </a:p>
        </p:txBody>
      </p:sp>
      <p:sp>
        <p:nvSpPr>
          <p:cNvPr id="23" name="Text 17"/>
          <p:cNvSpPr/>
          <p:nvPr/>
        </p:nvSpPr>
        <p:spPr>
          <a:xfrm>
            <a:off x="6035040" y="5166360"/>
            <a:ext cx="5148072" cy="1005840"/>
          </a:xfrm>
          <a:prstGeom prst="rect">
            <a:avLst/>
          </a:prstGeom>
          <a:noFill/>
          <a:ln/>
        </p:spPr>
        <p:txBody>
          <a:bodyPr wrap="square" lIns="0" tIns="0" rIns="0" bIns="0" rtlCol="0" anchor="ctr"/>
          <a:lstStyle/>
          <a:p>
            <a:pPr indent="0" marL="0">
              <a:lnSpc>
                <a:spcPct val="112000"/>
              </a:lnSpc>
              <a:buNone/>
            </a:pPr>
            <a:r>
              <a:rPr lang="en-US" sz="1300" dirty="0">
                <a:solidFill>
                  <a:srgbClr val="5C646C"/>
                </a:solidFill>
                <a:latin typeface="Calibri" pitchFamily="34" charset="0"/>
                <a:ea typeface="Calibri" pitchFamily="34" charset="-122"/>
                <a:cs typeface="Calibri" pitchFamily="34" charset="-120"/>
              </a:rPr>
              <a:t>A brand-new Monday session picks up exactly where Friday left off — every plan, dependency and “next” held in one durable, governed record. Strip the AI out and a complete delivery pipeline still remains.</a:t>
            </a:r>
            <a:endParaRPr lang="en-US" sz="1300" dirty="0"/>
          </a:p>
        </p:txBody>
      </p:sp>
      <p:sp>
        <p:nvSpPr>
          <p:cNvPr id="24" name="Text 18"/>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136B3F"/>
                </a:solidFill>
                <a:latin typeface="Calibri" pitchFamily="34" charset="0"/>
                <a:ea typeface="Calibri" pitchFamily="34" charset="-122"/>
                <a:cs typeface="Calibri" pitchFamily="34" charset="-120"/>
              </a:rPr>
              <a:t>DIFFERENTIATOR 03</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200" b="1" dirty="0">
                <a:solidFill>
                  <a:srgbClr val="1F262D"/>
                </a:solidFill>
                <a:latin typeface="Cambria" pitchFamily="34" charset="0"/>
                <a:ea typeface="Cambria" pitchFamily="34" charset="-122"/>
                <a:cs typeface="Cambria" pitchFamily="34" charset="-120"/>
              </a:rPr>
              <a:t>Every change arrives with proof.</a:t>
            </a:r>
            <a:endParaRPr lang="en-US" sz="3200" dirty="0"/>
          </a:p>
        </p:txBody>
      </p:sp>
      <p:sp>
        <p:nvSpPr>
          <p:cNvPr id="4" name="Text 2"/>
          <p:cNvSpPr/>
          <p:nvPr/>
        </p:nvSpPr>
        <p:spPr>
          <a:xfrm>
            <a:off x="640080" y="1627632"/>
            <a:ext cx="10607040" cy="365760"/>
          </a:xfrm>
          <a:prstGeom prst="rect">
            <a:avLst/>
          </a:prstGeom>
          <a:noFill/>
          <a:ln/>
        </p:spPr>
        <p:txBody>
          <a:bodyPr wrap="square" lIns="0" tIns="0" rIns="0" bIns="0" rtlCol="0" anchor="ctr"/>
          <a:lstStyle/>
          <a:p>
            <a:pPr indent="0" marL="0">
              <a:buNone/>
            </a:pPr>
            <a:r>
              <a:rPr lang="en-US" sz="1500" dirty="0">
                <a:solidFill>
                  <a:srgbClr val="5C646C"/>
                </a:solidFill>
                <a:latin typeface="Calibri" pitchFamily="34" charset="0"/>
                <a:ea typeface="Calibri" pitchFamily="34" charset="-122"/>
                <a:cs typeface="Calibri" pitchFamily="34" charset="-120"/>
              </a:rPr>
              <a:t>Delivery is run by a small team of scoped agents — so what reaches you is already verified.</a:t>
            </a:r>
            <a:endParaRPr lang="en-US" sz="1500" dirty="0"/>
          </a:p>
        </p:txBody>
      </p:sp>
      <p:sp>
        <p:nvSpPr>
          <p:cNvPr id="5" name="Shape 3"/>
          <p:cNvSpPr/>
          <p:nvPr/>
        </p:nvSpPr>
        <p:spPr>
          <a:xfrm>
            <a:off x="640080" y="2468880"/>
            <a:ext cx="2606040" cy="1783080"/>
          </a:xfrm>
          <a:prstGeom prst="roundRect">
            <a:avLst>
              <a:gd name="adj" fmla="val 4615"/>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6" name="Shape 4"/>
          <p:cNvSpPr/>
          <p:nvPr/>
        </p:nvSpPr>
        <p:spPr>
          <a:xfrm>
            <a:off x="1559052" y="2743200"/>
            <a:ext cx="768096" cy="768096"/>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1743395" y="2927543"/>
            <a:ext cx="399410" cy="399410"/>
          </a:xfrm>
          <a:prstGeom prst="rect">
            <a:avLst/>
          </a:prstGeom>
        </p:spPr>
      </p:pic>
      <p:sp>
        <p:nvSpPr>
          <p:cNvPr id="8" name="Text 5"/>
          <p:cNvSpPr/>
          <p:nvPr/>
        </p:nvSpPr>
        <p:spPr>
          <a:xfrm>
            <a:off x="640080" y="3547872"/>
            <a:ext cx="2606040" cy="365760"/>
          </a:xfrm>
          <a:prstGeom prst="rect">
            <a:avLst/>
          </a:prstGeom>
          <a:noFill/>
          <a:ln/>
        </p:spPr>
        <p:txBody>
          <a:bodyPr wrap="square" lIns="0" tIns="0" rIns="0" bIns="0" rtlCol="0" anchor="ctr"/>
          <a:lstStyle/>
          <a:p>
            <a:pPr algn="ctr" indent="0" marL="0">
              <a:buNone/>
            </a:pPr>
            <a:r>
              <a:rPr lang="en-US" sz="1800" b="1" dirty="0">
                <a:solidFill>
                  <a:srgbClr val="1F262D"/>
                </a:solidFill>
                <a:latin typeface="Cambria" pitchFamily="34" charset="0"/>
                <a:ea typeface="Cambria" pitchFamily="34" charset="-122"/>
                <a:cs typeface="Cambria" pitchFamily="34" charset="-120"/>
              </a:rPr>
              <a:t>Builder</a:t>
            </a:r>
            <a:endParaRPr lang="en-US" sz="1800" dirty="0"/>
          </a:p>
        </p:txBody>
      </p:sp>
      <p:sp>
        <p:nvSpPr>
          <p:cNvPr id="9" name="Text 6"/>
          <p:cNvSpPr/>
          <p:nvPr/>
        </p:nvSpPr>
        <p:spPr>
          <a:xfrm>
            <a:off x="640080" y="3886200"/>
            <a:ext cx="2606040" cy="320040"/>
          </a:xfrm>
          <a:prstGeom prst="rect">
            <a:avLst/>
          </a:prstGeom>
          <a:noFill/>
          <a:ln/>
        </p:spPr>
        <p:txBody>
          <a:bodyPr wrap="square" lIns="0" tIns="0" rIns="0" bIns="0" rtlCol="0" anchor="ctr"/>
          <a:lstStyle/>
          <a:p>
            <a:pPr algn="ctr" indent="0" marL="0">
              <a:buNone/>
            </a:pPr>
            <a:r>
              <a:rPr lang="en-US" sz="1250" dirty="0">
                <a:solidFill>
                  <a:srgbClr val="5C646C"/>
                </a:solidFill>
                <a:latin typeface="Calibri" pitchFamily="34" charset="0"/>
                <a:ea typeface="Calibri" pitchFamily="34" charset="-122"/>
                <a:cs typeface="Calibri" pitchFamily="34" charset="-120"/>
              </a:rPr>
              <a:t>writes the change</a:t>
            </a:r>
            <a:endParaRPr lang="en-US" sz="1250" dirty="0"/>
          </a:p>
        </p:txBody>
      </p:sp>
      <p:pic>
        <p:nvPicPr>
          <p:cNvPr id="10" name="Image 1" descr="preencoded.png">    </p:cNvPr>
          <p:cNvPicPr>
            <a:picLocks noChangeAspect="1"/>
          </p:cNvPicPr>
          <p:nvPr/>
        </p:nvPicPr>
        <p:blipFill>
          <a:blip r:embed="rId2"/>
          <a:stretch>
            <a:fillRect/>
          </a:stretch>
        </p:blipFill>
        <p:spPr>
          <a:xfrm>
            <a:off x="3369564" y="3232404"/>
            <a:ext cx="256032" cy="256032"/>
          </a:xfrm>
          <a:prstGeom prst="rect">
            <a:avLst/>
          </a:prstGeom>
        </p:spPr>
      </p:pic>
      <p:sp>
        <p:nvSpPr>
          <p:cNvPr id="11" name="Shape 7"/>
          <p:cNvSpPr/>
          <p:nvPr/>
        </p:nvSpPr>
        <p:spPr>
          <a:xfrm>
            <a:off x="3749040" y="2468880"/>
            <a:ext cx="2606040" cy="1783080"/>
          </a:xfrm>
          <a:prstGeom prst="roundRect">
            <a:avLst>
              <a:gd name="adj" fmla="val 4615"/>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2" name="Shape 8"/>
          <p:cNvSpPr/>
          <p:nvPr/>
        </p:nvSpPr>
        <p:spPr>
          <a:xfrm>
            <a:off x="4668012" y="2743200"/>
            <a:ext cx="768096" cy="768096"/>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4852355" y="2927543"/>
            <a:ext cx="399410" cy="399410"/>
          </a:xfrm>
          <a:prstGeom prst="rect">
            <a:avLst/>
          </a:prstGeom>
        </p:spPr>
      </p:pic>
      <p:sp>
        <p:nvSpPr>
          <p:cNvPr id="14" name="Text 9"/>
          <p:cNvSpPr/>
          <p:nvPr/>
        </p:nvSpPr>
        <p:spPr>
          <a:xfrm>
            <a:off x="3749040" y="3547872"/>
            <a:ext cx="2606040" cy="365760"/>
          </a:xfrm>
          <a:prstGeom prst="rect">
            <a:avLst/>
          </a:prstGeom>
          <a:noFill/>
          <a:ln/>
        </p:spPr>
        <p:txBody>
          <a:bodyPr wrap="square" lIns="0" tIns="0" rIns="0" bIns="0" rtlCol="0" anchor="ctr"/>
          <a:lstStyle/>
          <a:p>
            <a:pPr algn="ctr" indent="0" marL="0">
              <a:buNone/>
            </a:pPr>
            <a:r>
              <a:rPr lang="en-US" sz="1800" b="1" dirty="0">
                <a:solidFill>
                  <a:srgbClr val="1F262D"/>
                </a:solidFill>
                <a:latin typeface="Cambria" pitchFamily="34" charset="0"/>
                <a:ea typeface="Cambria" pitchFamily="34" charset="-122"/>
                <a:cs typeface="Cambria" pitchFamily="34" charset="-120"/>
              </a:rPr>
              <a:t>Maintainer</a:t>
            </a:r>
            <a:endParaRPr lang="en-US" sz="1800" dirty="0"/>
          </a:p>
        </p:txBody>
      </p:sp>
      <p:sp>
        <p:nvSpPr>
          <p:cNvPr id="15" name="Text 10"/>
          <p:cNvSpPr/>
          <p:nvPr/>
        </p:nvSpPr>
        <p:spPr>
          <a:xfrm>
            <a:off x="3749040" y="3886200"/>
            <a:ext cx="2606040" cy="320040"/>
          </a:xfrm>
          <a:prstGeom prst="rect">
            <a:avLst/>
          </a:prstGeom>
          <a:noFill/>
          <a:ln/>
        </p:spPr>
        <p:txBody>
          <a:bodyPr wrap="square" lIns="0" tIns="0" rIns="0" bIns="0" rtlCol="0" anchor="ctr"/>
          <a:lstStyle/>
          <a:p>
            <a:pPr algn="ctr" indent="0" marL="0">
              <a:buNone/>
            </a:pPr>
            <a:r>
              <a:rPr lang="en-US" sz="1250" dirty="0">
                <a:solidFill>
                  <a:srgbClr val="5C646C"/>
                </a:solidFill>
                <a:latin typeface="Calibri" pitchFamily="34" charset="0"/>
                <a:ea typeface="Calibri" pitchFamily="34" charset="-122"/>
                <a:cs typeface="Calibri" pitchFamily="34" charset="-120"/>
              </a:rPr>
              <a:t>keeps it consistent</a:t>
            </a:r>
            <a:endParaRPr lang="en-US" sz="1250" dirty="0"/>
          </a:p>
        </p:txBody>
      </p:sp>
      <p:pic>
        <p:nvPicPr>
          <p:cNvPr id="16" name="Image 3" descr="preencoded.png">    </p:cNvPr>
          <p:cNvPicPr>
            <a:picLocks noChangeAspect="1"/>
          </p:cNvPicPr>
          <p:nvPr/>
        </p:nvPicPr>
        <p:blipFill>
          <a:blip r:embed="rId4"/>
          <a:stretch>
            <a:fillRect/>
          </a:stretch>
        </p:blipFill>
        <p:spPr>
          <a:xfrm>
            <a:off x="6478524" y="3232404"/>
            <a:ext cx="256032" cy="256032"/>
          </a:xfrm>
          <a:prstGeom prst="rect">
            <a:avLst/>
          </a:prstGeom>
        </p:spPr>
      </p:pic>
      <p:sp>
        <p:nvSpPr>
          <p:cNvPr id="17" name="Shape 11"/>
          <p:cNvSpPr/>
          <p:nvPr/>
        </p:nvSpPr>
        <p:spPr>
          <a:xfrm>
            <a:off x="6858000" y="2468880"/>
            <a:ext cx="2606040" cy="1783080"/>
          </a:xfrm>
          <a:prstGeom prst="roundRect">
            <a:avLst>
              <a:gd name="adj" fmla="val 4615"/>
            </a:avLst>
          </a:prstGeom>
          <a:solidFill>
            <a:srgbClr val="E7F3EC"/>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8" name="Shape 12"/>
          <p:cNvSpPr/>
          <p:nvPr/>
        </p:nvSpPr>
        <p:spPr>
          <a:xfrm>
            <a:off x="7776972" y="2743200"/>
            <a:ext cx="768096" cy="768096"/>
          </a:xfrm>
          <a:prstGeom prst="ellipse">
            <a:avLst/>
          </a:prstGeom>
          <a:solidFill>
            <a:srgbClr val="1C9356"/>
          </a:solidFill>
          <a:ln/>
          <a:effectLst>
            <a:outerShdw sx="100000" sy="100000" kx="0" ky="0" algn="bl" rotWithShape="0" blurRad="88900" dist="38100" dir="5400000">
              <a:srgbClr val="000000">
                <a:alpha val="10000"/>
              </a:srgbClr>
            </a:outerShdw>
          </a:effectLst>
        </p:spPr>
      </p:sp>
      <p:pic>
        <p:nvPicPr>
          <p:cNvPr id="19" name="Image 4" descr="preencoded.png">    </p:cNvPr>
          <p:cNvPicPr>
            <a:picLocks noChangeAspect="1"/>
          </p:cNvPicPr>
          <p:nvPr/>
        </p:nvPicPr>
        <p:blipFill>
          <a:blip r:embed="rId5"/>
          <a:stretch>
            <a:fillRect/>
          </a:stretch>
        </p:blipFill>
        <p:spPr>
          <a:xfrm>
            <a:off x="7961315" y="2927543"/>
            <a:ext cx="399410" cy="399410"/>
          </a:xfrm>
          <a:prstGeom prst="rect">
            <a:avLst/>
          </a:prstGeom>
        </p:spPr>
      </p:pic>
      <p:sp>
        <p:nvSpPr>
          <p:cNvPr id="20" name="Text 13"/>
          <p:cNvSpPr/>
          <p:nvPr/>
        </p:nvSpPr>
        <p:spPr>
          <a:xfrm>
            <a:off x="6858000" y="3547872"/>
            <a:ext cx="2606040" cy="365760"/>
          </a:xfrm>
          <a:prstGeom prst="rect">
            <a:avLst/>
          </a:prstGeom>
          <a:noFill/>
          <a:ln/>
        </p:spPr>
        <p:txBody>
          <a:bodyPr wrap="square" lIns="0" tIns="0" rIns="0" bIns="0" rtlCol="0" anchor="ctr"/>
          <a:lstStyle/>
          <a:p>
            <a:pPr algn="ctr" indent="0" marL="0">
              <a:buNone/>
            </a:pPr>
            <a:r>
              <a:rPr lang="en-US" sz="1800" b="1" dirty="0">
                <a:solidFill>
                  <a:srgbClr val="136B3F"/>
                </a:solidFill>
                <a:latin typeface="Cambria" pitchFamily="34" charset="0"/>
                <a:ea typeface="Cambria" pitchFamily="34" charset="-122"/>
                <a:cs typeface="Cambria" pitchFamily="34" charset="-120"/>
              </a:rPr>
              <a:t>Verifier</a:t>
            </a:r>
            <a:endParaRPr lang="en-US" sz="1800" dirty="0"/>
          </a:p>
        </p:txBody>
      </p:sp>
      <p:sp>
        <p:nvSpPr>
          <p:cNvPr id="21" name="Text 14"/>
          <p:cNvSpPr/>
          <p:nvPr/>
        </p:nvSpPr>
        <p:spPr>
          <a:xfrm>
            <a:off x="6858000" y="3886200"/>
            <a:ext cx="2606040" cy="320040"/>
          </a:xfrm>
          <a:prstGeom prst="rect">
            <a:avLst/>
          </a:prstGeom>
          <a:noFill/>
          <a:ln/>
        </p:spPr>
        <p:txBody>
          <a:bodyPr wrap="square" lIns="0" tIns="0" rIns="0" bIns="0" rtlCol="0" anchor="ctr"/>
          <a:lstStyle/>
          <a:p>
            <a:pPr algn="ctr" indent="0" marL="0">
              <a:buNone/>
            </a:pPr>
            <a:r>
              <a:rPr lang="en-US" sz="1250" dirty="0">
                <a:solidFill>
                  <a:srgbClr val="5C646C"/>
                </a:solidFill>
                <a:latin typeface="Calibri" pitchFamily="34" charset="0"/>
                <a:ea typeface="Calibri" pitchFamily="34" charset="-122"/>
                <a:cs typeface="Calibri" pitchFamily="34" charset="-120"/>
              </a:rPr>
              <a:t>audits + attaches evidence</a:t>
            </a:r>
            <a:endParaRPr lang="en-US" sz="1250" dirty="0"/>
          </a:p>
        </p:txBody>
      </p:sp>
      <p:sp>
        <p:nvSpPr>
          <p:cNvPr id="22" name="Shape 15"/>
          <p:cNvSpPr/>
          <p:nvPr/>
        </p:nvSpPr>
        <p:spPr>
          <a:xfrm>
            <a:off x="640080" y="4663440"/>
            <a:ext cx="10908792" cy="1371600"/>
          </a:xfrm>
          <a:prstGeom prst="roundRect">
            <a:avLst>
              <a:gd name="adj" fmla="val 6000"/>
            </a:avLst>
          </a:prstGeom>
          <a:solidFill>
            <a:srgbClr val="F2F2E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23" name="Shape 16"/>
          <p:cNvSpPr/>
          <p:nvPr/>
        </p:nvSpPr>
        <p:spPr>
          <a:xfrm>
            <a:off x="1051560" y="5074920"/>
            <a:ext cx="548640" cy="548640"/>
          </a:xfrm>
          <a:prstGeom prst="ellipse">
            <a:avLst/>
          </a:prstGeom>
          <a:solidFill>
            <a:srgbClr val="1C9356"/>
          </a:solidFill>
          <a:ln/>
          <a:effectLst>
            <a:outerShdw sx="100000" sy="100000" kx="0" ky="0" algn="bl" rotWithShape="0" blurRad="88900" dist="38100" dir="5400000">
              <a:srgbClr val="000000">
                <a:alpha val="10000"/>
              </a:srgbClr>
            </a:outerShdw>
          </a:effectLst>
        </p:spPr>
      </p:sp>
      <p:pic>
        <p:nvPicPr>
          <p:cNvPr id="24" name="Image 5" descr="preencoded.png">    </p:cNvPr>
          <p:cNvPicPr>
            <a:picLocks noChangeAspect="1"/>
          </p:cNvPicPr>
          <p:nvPr/>
        </p:nvPicPr>
        <p:blipFill>
          <a:blip r:embed="rId6"/>
          <a:stretch>
            <a:fillRect/>
          </a:stretch>
        </p:blipFill>
        <p:spPr>
          <a:xfrm>
            <a:off x="1183234" y="5206594"/>
            <a:ext cx="285293" cy="285293"/>
          </a:xfrm>
          <a:prstGeom prst="rect">
            <a:avLst/>
          </a:prstGeom>
        </p:spPr>
      </p:pic>
      <p:sp>
        <p:nvSpPr>
          <p:cNvPr id="25" name="Text 17"/>
          <p:cNvSpPr/>
          <p:nvPr/>
        </p:nvSpPr>
        <p:spPr>
          <a:xfrm>
            <a:off x="1828800" y="4846320"/>
            <a:ext cx="9354312" cy="1005840"/>
          </a:xfrm>
          <a:prstGeom prst="rect">
            <a:avLst/>
          </a:prstGeom>
          <a:noFill/>
          <a:ln/>
        </p:spPr>
        <p:txBody>
          <a:bodyPr wrap="square" lIns="0" tIns="0" rIns="0" bIns="0" rtlCol="0" anchor="ctr"/>
          <a:lstStyle/>
          <a:p>
            <a:pPr indent="0" marL="0">
              <a:lnSpc>
                <a:spcPct val="115000"/>
              </a:lnSpc>
              <a:buNone/>
            </a:pPr>
            <a:r>
              <a:rPr lang="en-US" sz="1350" b="1" dirty="0">
                <a:solidFill>
                  <a:srgbClr val="1F262D"/>
                </a:solidFill>
                <a:latin typeface="Calibri" pitchFamily="34" charset="0"/>
                <a:ea typeface="Calibri" pitchFamily="34" charset="-122"/>
                <a:cs typeface="Calibri" pitchFamily="34" charset="-120"/>
              </a:rPr>
              <a:t>What you approve: </a:t>
            </a:r>
            <a:pPr indent="0" marL="0">
              <a:lnSpc>
                <a:spcPct val="115000"/>
              </a:lnSpc>
              <a:buNone/>
            </a:pPr>
            <a:r>
              <a:rPr lang="en-US" sz="1350" dirty="0">
                <a:solidFill>
                  <a:srgbClr val="5C646C"/>
                </a:solidFill>
                <a:latin typeface="Calibri" pitchFamily="34" charset="0"/>
                <a:ea typeface="Calibri" pitchFamily="34" charset="-122"/>
                <a:cs typeface="Calibri" pitchFamily="34" charset="-120"/>
              </a:rPr>
              <a:t>the change, the evidence it works — a passing check, a screenshot of the working screen — and a one-tap sign-off. </a:t>
            </a:r>
            <a:pPr indent="0" marL="0">
              <a:lnSpc>
                <a:spcPct val="115000"/>
              </a:lnSpc>
              <a:buNone/>
            </a:pPr>
            <a:r>
              <a:rPr lang="en-US" sz="1500" b="1" i="1" dirty="0">
                <a:solidFill>
                  <a:srgbClr val="136B3F"/>
                </a:solidFill>
                <a:latin typeface="Cambria" pitchFamily="34" charset="0"/>
                <a:ea typeface="Cambria" pitchFamily="34" charset="-122"/>
                <a:cs typeface="Cambria" pitchFamily="34" charset="-120"/>
              </a:rPr>
              <a:t>You review proof, not promises.</a:t>
            </a:r>
            <a:endParaRPr lang="en-US" sz="1350" dirty="0"/>
          </a:p>
        </p:txBody>
      </p:sp>
      <p:sp>
        <p:nvSpPr>
          <p:cNvPr id="26" name="Text 18"/>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B20"/>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THE DIFFERENCE NO INCUMBENT WILL COPY</a:t>
            </a:r>
            <a:endParaRPr lang="en-US" sz="11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real browser, acting as the real you.</a:t>
            </a:r>
            <a:endParaRPr lang="en-US" sz="3200" dirty="0"/>
          </a:p>
        </p:txBody>
      </p:sp>
      <p:sp>
        <p:nvSpPr>
          <p:cNvPr id="4" name="Shape 2"/>
          <p:cNvSpPr/>
          <p:nvPr/>
        </p:nvSpPr>
        <p:spPr>
          <a:xfrm>
            <a:off x="640080" y="1965960"/>
            <a:ext cx="5257800" cy="4069080"/>
          </a:xfrm>
          <a:prstGeom prst="roundRect">
            <a:avLst>
              <a:gd name="adj" fmla="val 2022"/>
            </a:avLst>
          </a:prstGeom>
          <a:solidFill>
            <a:srgbClr val="1F262C"/>
          </a:solidFill>
          <a:ln w="12700">
            <a:solidFill>
              <a:srgbClr val="D6D8D3"/>
            </a:solidFill>
            <a:prstDash val="solid"/>
          </a:ln>
        </p:spPr>
      </p:sp>
      <p:sp>
        <p:nvSpPr>
          <p:cNvPr id="5" name="Shape 3"/>
          <p:cNvSpPr/>
          <p:nvPr/>
        </p:nvSpPr>
        <p:spPr>
          <a:xfrm>
            <a:off x="640080" y="1965960"/>
            <a:ext cx="5257800" cy="4069080"/>
          </a:xfrm>
          <a:prstGeom prst="roundRect">
            <a:avLst>
              <a:gd name="adj" fmla="val 2022"/>
            </a:avLst>
          </a:prstGeom>
          <a:ln w="12700">
            <a:solidFill>
              <a:srgbClr val="343C45"/>
            </a:solidFill>
            <a:prstDash val="solid"/>
          </a:ln>
        </p:spPr>
      </p:sp>
      <p:sp>
        <p:nvSpPr>
          <p:cNvPr id="6" name="Text 4"/>
          <p:cNvSpPr/>
          <p:nvPr/>
        </p:nvSpPr>
        <p:spPr>
          <a:xfrm>
            <a:off x="1051560" y="2286000"/>
            <a:ext cx="4434840" cy="365760"/>
          </a:xfrm>
          <a:prstGeom prst="rect">
            <a:avLst/>
          </a:prstGeom>
          <a:noFill/>
          <a:ln/>
        </p:spPr>
        <p:txBody>
          <a:bodyPr wrap="square" lIns="0" tIns="0" rIns="0" bIns="0" rtlCol="0" anchor="ctr"/>
          <a:lstStyle/>
          <a:p>
            <a:pPr indent="0" marL="0">
              <a:buNone/>
            </a:pPr>
            <a:r>
              <a:rPr lang="en-US" sz="1800" b="1" dirty="0">
                <a:solidFill>
                  <a:srgbClr val="9AA0A6"/>
                </a:solidFill>
                <a:latin typeface="Cambria" pitchFamily="34" charset="0"/>
                <a:ea typeface="Cambria" pitchFamily="34" charset="-122"/>
                <a:cs typeface="Cambria" pitchFamily="34" charset="-120"/>
              </a:rPr>
              <a:t>Other agents</a:t>
            </a:r>
            <a:endParaRPr lang="en-US" sz="1800" dirty="0"/>
          </a:p>
        </p:txBody>
      </p:sp>
      <p:sp>
        <p:nvSpPr>
          <p:cNvPr id="7" name="Text 5"/>
          <p:cNvSpPr/>
          <p:nvPr/>
        </p:nvSpPr>
        <p:spPr>
          <a:xfrm>
            <a:off x="1051560" y="2697480"/>
            <a:ext cx="4434840" cy="365760"/>
          </a:xfrm>
          <a:prstGeom prst="rect">
            <a:avLst/>
          </a:prstGeom>
          <a:noFill/>
          <a:ln/>
        </p:spPr>
        <p:txBody>
          <a:bodyPr wrap="square" lIns="0" tIns="0" rIns="0" bIns="0" rtlCol="0" anchor="ctr"/>
          <a:lstStyle/>
          <a:p>
            <a:pPr indent="0" marL="0">
              <a:buNone/>
            </a:pPr>
            <a:r>
              <a:rPr lang="en-US" sz="1250" i="1" dirty="0">
                <a:solidFill>
                  <a:srgbClr val="8A9096"/>
                </a:solidFill>
                <a:latin typeface="Calibri" pitchFamily="34" charset="0"/>
                <a:ea typeface="Calibri" pitchFamily="34" charset="-122"/>
                <a:cs typeface="Calibri" pitchFamily="34" charset="-120"/>
              </a:rPr>
              <a:t>a throwaway headless browser it spins up</a:t>
            </a:r>
            <a:endParaRPr lang="en-US" sz="1250" dirty="0"/>
          </a:p>
        </p:txBody>
      </p:sp>
      <p:pic>
        <p:nvPicPr>
          <p:cNvPr id="8" name="Image 0" descr="preencoded.png">    </p:cNvPr>
          <p:cNvPicPr>
            <a:picLocks noChangeAspect="1"/>
          </p:cNvPicPr>
          <p:nvPr/>
        </p:nvPicPr>
        <p:blipFill>
          <a:blip r:embed="rId1"/>
          <a:stretch>
            <a:fillRect/>
          </a:stretch>
        </p:blipFill>
        <p:spPr>
          <a:xfrm>
            <a:off x="1097280" y="3291840"/>
            <a:ext cx="274320" cy="274320"/>
          </a:xfrm>
          <a:prstGeom prst="rect">
            <a:avLst/>
          </a:prstGeom>
        </p:spPr>
      </p:pic>
      <p:sp>
        <p:nvSpPr>
          <p:cNvPr id="9" name="Text 6"/>
          <p:cNvSpPr/>
          <p:nvPr/>
        </p:nvSpPr>
        <p:spPr>
          <a:xfrm>
            <a:off x="1508760" y="3246120"/>
            <a:ext cx="3977640" cy="411480"/>
          </a:xfrm>
          <a:prstGeom prst="rect">
            <a:avLst/>
          </a:prstGeom>
          <a:noFill/>
          <a:ln/>
        </p:spPr>
        <p:txBody>
          <a:bodyPr wrap="square" lIns="0" tIns="0" rIns="0" bIns="0" rtlCol="0" anchor="ctr"/>
          <a:lstStyle/>
          <a:p>
            <a:pPr indent="0" marL="0">
              <a:buNone/>
            </a:pPr>
            <a:r>
              <a:rPr lang="en-US" sz="1350" dirty="0">
                <a:solidFill>
                  <a:srgbClr val="9AA0A6"/>
                </a:solidFill>
                <a:latin typeface="Calibri" pitchFamily="34" charset="0"/>
                <a:ea typeface="Calibri" pitchFamily="34" charset="-122"/>
                <a:cs typeface="Calibri" pitchFamily="34" charset="-120"/>
              </a:rPr>
              <a:t>The site flags its user agent as a bot</a:t>
            </a:r>
            <a:endParaRPr lang="en-US" sz="1350" dirty="0"/>
          </a:p>
        </p:txBody>
      </p:sp>
      <p:pic>
        <p:nvPicPr>
          <p:cNvPr id="10" name="Image 1" descr="preencoded.png">    </p:cNvPr>
          <p:cNvPicPr>
            <a:picLocks noChangeAspect="1"/>
          </p:cNvPicPr>
          <p:nvPr/>
        </p:nvPicPr>
        <p:blipFill>
          <a:blip r:embed="rId2"/>
          <a:stretch>
            <a:fillRect/>
          </a:stretch>
        </p:blipFill>
        <p:spPr>
          <a:xfrm>
            <a:off x="1097280" y="3950208"/>
            <a:ext cx="274320" cy="274320"/>
          </a:xfrm>
          <a:prstGeom prst="rect">
            <a:avLst/>
          </a:prstGeom>
        </p:spPr>
      </p:pic>
      <p:sp>
        <p:nvSpPr>
          <p:cNvPr id="11" name="Text 7"/>
          <p:cNvSpPr/>
          <p:nvPr/>
        </p:nvSpPr>
        <p:spPr>
          <a:xfrm>
            <a:off x="1508760" y="3904488"/>
            <a:ext cx="3977640" cy="411480"/>
          </a:xfrm>
          <a:prstGeom prst="rect">
            <a:avLst/>
          </a:prstGeom>
          <a:noFill/>
          <a:ln/>
        </p:spPr>
        <p:txBody>
          <a:bodyPr wrap="square" lIns="0" tIns="0" rIns="0" bIns="0" rtlCol="0" anchor="ctr"/>
          <a:lstStyle/>
          <a:p>
            <a:pPr indent="0" marL="0">
              <a:buNone/>
            </a:pPr>
            <a:r>
              <a:rPr lang="en-US" sz="1350" dirty="0">
                <a:solidFill>
                  <a:srgbClr val="9AA0A6"/>
                </a:solidFill>
                <a:latin typeface="Calibri" pitchFamily="34" charset="0"/>
                <a:ea typeface="Calibri" pitchFamily="34" charset="-122"/>
                <a:cs typeface="Calibri" pitchFamily="34" charset="-120"/>
              </a:rPr>
              <a:t>A CAPTCHA appears — a hard stop</a:t>
            </a:r>
            <a:endParaRPr lang="en-US" sz="1350" dirty="0"/>
          </a:p>
        </p:txBody>
      </p:sp>
      <p:pic>
        <p:nvPicPr>
          <p:cNvPr id="12" name="Image 2" descr="preencoded.png">    </p:cNvPr>
          <p:cNvPicPr>
            <a:picLocks noChangeAspect="1"/>
          </p:cNvPicPr>
          <p:nvPr/>
        </p:nvPicPr>
        <p:blipFill>
          <a:blip r:embed="rId3"/>
          <a:stretch>
            <a:fillRect/>
          </a:stretch>
        </p:blipFill>
        <p:spPr>
          <a:xfrm>
            <a:off x="1097280" y="4608576"/>
            <a:ext cx="274320" cy="274320"/>
          </a:xfrm>
          <a:prstGeom prst="rect">
            <a:avLst/>
          </a:prstGeom>
        </p:spPr>
      </p:pic>
      <p:sp>
        <p:nvSpPr>
          <p:cNvPr id="13" name="Text 8"/>
          <p:cNvSpPr/>
          <p:nvPr/>
        </p:nvSpPr>
        <p:spPr>
          <a:xfrm>
            <a:off x="1508760" y="4562856"/>
            <a:ext cx="3977640" cy="411480"/>
          </a:xfrm>
          <a:prstGeom prst="rect">
            <a:avLst/>
          </a:prstGeom>
          <a:noFill/>
          <a:ln/>
        </p:spPr>
        <p:txBody>
          <a:bodyPr wrap="square" lIns="0" tIns="0" rIns="0" bIns="0" rtlCol="0" anchor="ctr"/>
          <a:lstStyle/>
          <a:p>
            <a:pPr indent="0" marL="0">
              <a:buNone/>
            </a:pPr>
            <a:r>
              <a:rPr lang="en-US" sz="1350" dirty="0">
                <a:solidFill>
                  <a:srgbClr val="9AA0A6"/>
                </a:solidFill>
                <a:latin typeface="Calibri" pitchFamily="34" charset="0"/>
                <a:ea typeface="Calibri" pitchFamily="34" charset="-122"/>
                <a:cs typeface="Calibri" pitchFamily="34" charset="-120"/>
              </a:rPr>
              <a:t>Profiles &amp; logins it doesn’t have</a:t>
            </a:r>
            <a:endParaRPr lang="en-US" sz="1350" dirty="0"/>
          </a:p>
        </p:txBody>
      </p:sp>
      <p:pic>
        <p:nvPicPr>
          <p:cNvPr id="14" name="Image 3" descr="preencoded.png">    </p:cNvPr>
          <p:cNvPicPr>
            <a:picLocks noChangeAspect="1"/>
          </p:cNvPicPr>
          <p:nvPr/>
        </p:nvPicPr>
        <p:blipFill>
          <a:blip r:embed="rId4"/>
          <a:stretch>
            <a:fillRect/>
          </a:stretch>
        </p:blipFill>
        <p:spPr>
          <a:xfrm>
            <a:off x="1097280" y="5266944"/>
            <a:ext cx="274320" cy="274320"/>
          </a:xfrm>
          <a:prstGeom prst="rect">
            <a:avLst/>
          </a:prstGeom>
        </p:spPr>
      </p:pic>
      <p:sp>
        <p:nvSpPr>
          <p:cNvPr id="15" name="Text 9"/>
          <p:cNvSpPr/>
          <p:nvPr/>
        </p:nvSpPr>
        <p:spPr>
          <a:xfrm>
            <a:off x="1508760" y="5221224"/>
            <a:ext cx="3977640" cy="411480"/>
          </a:xfrm>
          <a:prstGeom prst="rect">
            <a:avLst/>
          </a:prstGeom>
          <a:noFill/>
          <a:ln/>
        </p:spPr>
        <p:txBody>
          <a:bodyPr wrap="square" lIns="0" tIns="0" rIns="0" bIns="0" rtlCol="0" anchor="ctr"/>
          <a:lstStyle/>
          <a:p>
            <a:pPr indent="0" marL="0">
              <a:buNone/>
            </a:pPr>
            <a:r>
              <a:rPr lang="en-US" sz="1350" dirty="0">
                <a:solidFill>
                  <a:srgbClr val="9AA0A6"/>
                </a:solidFill>
                <a:latin typeface="Calibri" pitchFamily="34" charset="0"/>
                <a:ea typeface="Calibri" pitchFamily="34" charset="-122"/>
                <a:cs typeface="Calibri" pitchFamily="34" charset="-120"/>
              </a:rPr>
              <a:t>“I can’t log in as you”</a:t>
            </a:r>
            <a:endParaRPr lang="en-US" sz="1350" dirty="0"/>
          </a:p>
        </p:txBody>
      </p:sp>
      <p:sp>
        <p:nvSpPr>
          <p:cNvPr id="16" name="Shape 10"/>
          <p:cNvSpPr/>
          <p:nvPr/>
        </p:nvSpPr>
        <p:spPr>
          <a:xfrm>
            <a:off x="6291072" y="1965960"/>
            <a:ext cx="5257800" cy="4069080"/>
          </a:xfrm>
          <a:prstGeom prst="roundRect">
            <a:avLst>
              <a:gd name="adj" fmla="val 2022"/>
            </a:avLst>
          </a:prstGeom>
          <a:solidFill>
            <a:srgbClr val="1F262C"/>
          </a:solidFill>
          <a:ln w="12700">
            <a:solidFill>
              <a:srgbClr val="D6D8D3"/>
            </a:solidFill>
            <a:prstDash val="solid"/>
          </a:ln>
        </p:spPr>
      </p:sp>
      <p:sp>
        <p:nvSpPr>
          <p:cNvPr id="17" name="Shape 11"/>
          <p:cNvSpPr/>
          <p:nvPr/>
        </p:nvSpPr>
        <p:spPr>
          <a:xfrm>
            <a:off x="6291072" y="1965960"/>
            <a:ext cx="5257800" cy="4069080"/>
          </a:xfrm>
          <a:prstGeom prst="roundRect">
            <a:avLst>
              <a:gd name="adj" fmla="val 2022"/>
            </a:avLst>
          </a:prstGeom>
          <a:ln w="15875">
            <a:solidFill>
              <a:srgbClr val="136B3F"/>
            </a:solidFill>
            <a:prstDash val="solid"/>
          </a:ln>
        </p:spPr>
      </p:sp>
      <p:pic>
        <p:nvPicPr>
          <p:cNvPr id="18" name="Image 4" descr="preencoded.png">    </p:cNvPr>
          <p:cNvPicPr>
            <a:picLocks noChangeAspect="1"/>
          </p:cNvPicPr>
          <p:nvPr/>
        </p:nvPicPr>
        <p:blipFill>
          <a:blip r:embed="rId5"/>
          <a:stretch>
            <a:fillRect/>
          </a:stretch>
        </p:blipFill>
        <p:spPr>
          <a:xfrm>
            <a:off x="10680192" y="2286000"/>
            <a:ext cx="457200" cy="457200"/>
          </a:xfrm>
          <a:prstGeom prst="rect">
            <a:avLst/>
          </a:prstGeom>
        </p:spPr>
      </p:pic>
      <p:sp>
        <p:nvSpPr>
          <p:cNvPr id="19" name="Text 12"/>
          <p:cNvSpPr/>
          <p:nvPr/>
        </p:nvSpPr>
        <p:spPr>
          <a:xfrm>
            <a:off x="6702552" y="2286000"/>
            <a:ext cx="39776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Operant</a:t>
            </a:r>
            <a:endParaRPr lang="en-US" sz="1800" dirty="0"/>
          </a:p>
        </p:txBody>
      </p:sp>
      <p:sp>
        <p:nvSpPr>
          <p:cNvPr id="20" name="Text 13"/>
          <p:cNvSpPr/>
          <p:nvPr/>
        </p:nvSpPr>
        <p:spPr>
          <a:xfrm>
            <a:off x="6702552" y="2697480"/>
            <a:ext cx="3977640" cy="365760"/>
          </a:xfrm>
          <a:prstGeom prst="rect">
            <a:avLst/>
          </a:prstGeom>
          <a:noFill/>
          <a:ln/>
        </p:spPr>
        <p:txBody>
          <a:bodyPr wrap="square" lIns="0" tIns="0" rIns="0" bIns="0" rtlCol="0" anchor="ctr"/>
          <a:lstStyle/>
          <a:p>
            <a:pPr indent="0" marL="0">
              <a:buNone/>
            </a:pPr>
            <a:r>
              <a:rPr lang="en-US" sz="1250" i="1" dirty="0">
                <a:solidFill>
                  <a:srgbClr val="1C9356"/>
                </a:solidFill>
                <a:latin typeface="Calibri" pitchFamily="34" charset="0"/>
                <a:ea typeface="Calibri" pitchFamily="34" charset="-122"/>
                <a:cs typeface="Calibri" pitchFamily="34" charset="-120"/>
              </a:rPr>
              <a:t>your everyday Chrome, over a debug port</a:t>
            </a:r>
            <a:endParaRPr lang="en-US" sz="1250" dirty="0"/>
          </a:p>
        </p:txBody>
      </p:sp>
      <p:pic>
        <p:nvPicPr>
          <p:cNvPr id="21" name="Image 5" descr="preencoded.png">    </p:cNvPr>
          <p:cNvPicPr>
            <a:picLocks noChangeAspect="1"/>
          </p:cNvPicPr>
          <p:nvPr/>
        </p:nvPicPr>
        <p:blipFill>
          <a:blip r:embed="rId6"/>
          <a:stretch>
            <a:fillRect/>
          </a:stretch>
        </p:blipFill>
        <p:spPr>
          <a:xfrm>
            <a:off x="6748272" y="3291840"/>
            <a:ext cx="274320" cy="274320"/>
          </a:xfrm>
          <a:prstGeom prst="rect">
            <a:avLst/>
          </a:prstGeom>
        </p:spPr>
      </p:pic>
      <p:sp>
        <p:nvSpPr>
          <p:cNvPr id="22" name="Text 14"/>
          <p:cNvSpPr/>
          <p:nvPr/>
        </p:nvSpPr>
        <p:spPr>
          <a:xfrm>
            <a:off x="7159752" y="3246120"/>
            <a:ext cx="3977640" cy="411480"/>
          </a:xfrm>
          <a:prstGeom prst="rect">
            <a:avLst/>
          </a:prstGeom>
          <a:noFill/>
          <a:ln/>
        </p:spPr>
        <p:txBody>
          <a:bodyPr wrap="square" lIns="0" tIns="0" rIns="0" bIns="0" rtlCol="0" anchor="ctr"/>
          <a:lstStyle/>
          <a:p>
            <a:pPr indent="0" marL="0">
              <a:buNone/>
            </a:pPr>
            <a:r>
              <a:rPr lang="en-US" sz="1350" dirty="0">
                <a:solidFill>
                  <a:srgbClr val="E7E8E4"/>
                </a:solidFill>
                <a:latin typeface="Calibri" pitchFamily="34" charset="0"/>
                <a:ea typeface="Calibri" pitchFamily="34" charset="-122"/>
                <a:cs typeface="Calibri" pitchFamily="34" charset="-120"/>
              </a:rPr>
              <a:t>To the site, simply a human at their machine</a:t>
            </a:r>
            <a:endParaRPr lang="en-US" sz="1350" dirty="0"/>
          </a:p>
        </p:txBody>
      </p:sp>
      <p:pic>
        <p:nvPicPr>
          <p:cNvPr id="23" name="Image 6" descr="preencoded.png">    </p:cNvPr>
          <p:cNvPicPr>
            <a:picLocks noChangeAspect="1"/>
          </p:cNvPicPr>
          <p:nvPr/>
        </p:nvPicPr>
        <p:blipFill>
          <a:blip r:embed="rId7"/>
          <a:stretch>
            <a:fillRect/>
          </a:stretch>
        </p:blipFill>
        <p:spPr>
          <a:xfrm>
            <a:off x="6748272" y="3950208"/>
            <a:ext cx="274320" cy="274320"/>
          </a:xfrm>
          <a:prstGeom prst="rect">
            <a:avLst/>
          </a:prstGeom>
        </p:spPr>
      </p:pic>
      <p:sp>
        <p:nvSpPr>
          <p:cNvPr id="24" name="Text 15"/>
          <p:cNvSpPr/>
          <p:nvPr/>
        </p:nvSpPr>
        <p:spPr>
          <a:xfrm>
            <a:off x="7159752" y="3904488"/>
            <a:ext cx="3977640" cy="411480"/>
          </a:xfrm>
          <a:prstGeom prst="rect">
            <a:avLst/>
          </a:prstGeom>
          <a:noFill/>
          <a:ln/>
        </p:spPr>
        <p:txBody>
          <a:bodyPr wrap="square" lIns="0" tIns="0" rIns="0" bIns="0" rtlCol="0" anchor="ctr"/>
          <a:lstStyle/>
          <a:p>
            <a:pPr indent="0" marL="0">
              <a:buNone/>
            </a:pPr>
            <a:r>
              <a:rPr lang="en-US" sz="1350" dirty="0">
                <a:solidFill>
                  <a:srgbClr val="E7E8E4"/>
                </a:solidFill>
                <a:latin typeface="Calibri" pitchFamily="34" charset="0"/>
                <a:ea typeface="Calibri" pitchFamily="34" charset="-122"/>
                <a:cs typeface="Calibri" pitchFamily="34" charset="-120"/>
              </a:rPr>
              <a:t>Your real profiles &amp; live sessions</a:t>
            </a:r>
            <a:endParaRPr lang="en-US" sz="1350" dirty="0"/>
          </a:p>
        </p:txBody>
      </p:sp>
      <p:pic>
        <p:nvPicPr>
          <p:cNvPr id="25" name="Image 7" descr="preencoded.png">    </p:cNvPr>
          <p:cNvPicPr>
            <a:picLocks noChangeAspect="1"/>
          </p:cNvPicPr>
          <p:nvPr/>
        </p:nvPicPr>
        <p:blipFill>
          <a:blip r:embed="rId8"/>
          <a:stretch>
            <a:fillRect/>
          </a:stretch>
        </p:blipFill>
        <p:spPr>
          <a:xfrm>
            <a:off x="6748272" y="4608576"/>
            <a:ext cx="274320" cy="274320"/>
          </a:xfrm>
          <a:prstGeom prst="rect">
            <a:avLst/>
          </a:prstGeom>
        </p:spPr>
      </p:pic>
      <p:sp>
        <p:nvSpPr>
          <p:cNvPr id="26" name="Text 16"/>
          <p:cNvSpPr/>
          <p:nvPr/>
        </p:nvSpPr>
        <p:spPr>
          <a:xfrm>
            <a:off x="7159752" y="4562856"/>
            <a:ext cx="3977640" cy="411480"/>
          </a:xfrm>
          <a:prstGeom prst="rect">
            <a:avLst/>
          </a:prstGeom>
          <a:noFill/>
          <a:ln/>
        </p:spPr>
        <p:txBody>
          <a:bodyPr wrap="square" lIns="0" tIns="0" rIns="0" bIns="0" rtlCol="0" anchor="ctr"/>
          <a:lstStyle/>
          <a:p>
            <a:pPr indent="0" marL="0">
              <a:buNone/>
            </a:pPr>
            <a:r>
              <a:rPr lang="en-US" sz="1350" dirty="0">
                <a:solidFill>
                  <a:srgbClr val="E7E8E4"/>
                </a:solidFill>
                <a:latin typeface="Calibri" pitchFamily="34" charset="0"/>
                <a:ea typeface="Calibri" pitchFamily="34" charset="-122"/>
                <a:cs typeface="Calibri" pitchFamily="34" charset="-120"/>
              </a:rPr>
              <a:t>You see the window — step in any time</a:t>
            </a:r>
            <a:endParaRPr lang="en-US" sz="1350" dirty="0"/>
          </a:p>
        </p:txBody>
      </p:sp>
      <p:pic>
        <p:nvPicPr>
          <p:cNvPr id="27" name="Image 8" descr="preencoded.png">    </p:cNvPr>
          <p:cNvPicPr>
            <a:picLocks noChangeAspect="1"/>
          </p:cNvPicPr>
          <p:nvPr/>
        </p:nvPicPr>
        <p:blipFill>
          <a:blip r:embed="rId9"/>
          <a:stretch>
            <a:fillRect/>
          </a:stretch>
        </p:blipFill>
        <p:spPr>
          <a:xfrm>
            <a:off x="6748272" y="5266944"/>
            <a:ext cx="274320" cy="274320"/>
          </a:xfrm>
          <a:prstGeom prst="rect">
            <a:avLst/>
          </a:prstGeom>
        </p:spPr>
      </p:pic>
      <p:sp>
        <p:nvSpPr>
          <p:cNvPr id="28" name="Text 17"/>
          <p:cNvSpPr/>
          <p:nvPr/>
        </p:nvSpPr>
        <p:spPr>
          <a:xfrm>
            <a:off x="7159752" y="5221224"/>
            <a:ext cx="3977640" cy="411480"/>
          </a:xfrm>
          <a:prstGeom prst="rect">
            <a:avLst/>
          </a:prstGeom>
          <a:noFill/>
          <a:ln/>
        </p:spPr>
        <p:txBody>
          <a:bodyPr wrap="square" lIns="0" tIns="0" rIns="0" bIns="0" rtlCol="0" anchor="ctr"/>
          <a:lstStyle/>
          <a:p>
            <a:pPr indent="0" marL="0">
              <a:buNone/>
            </a:pPr>
            <a:r>
              <a:rPr lang="en-US" sz="1350" dirty="0">
                <a:solidFill>
                  <a:srgbClr val="E7E8E4"/>
                </a:solidFill>
                <a:latin typeface="Calibri" pitchFamily="34" charset="0"/>
                <a:ea typeface="Calibri" pitchFamily="34" charset="-122"/>
                <a:cs typeface="Calibri" pitchFamily="34" charset="-120"/>
              </a:rPr>
              <a:t>Live auth becomes a quick hand-off</a:t>
            </a:r>
            <a:endParaRPr lang="en-US" sz="1350" dirty="0"/>
          </a:p>
        </p:txBody>
      </p:sp>
      <p:sp>
        <p:nvSpPr>
          <p:cNvPr id="29" name="Text 18"/>
          <p:cNvSpPr/>
          <p:nvPr/>
        </p:nvSpPr>
        <p:spPr>
          <a:xfrm>
            <a:off x="640080" y="6355080"/>
            <a:ext cx="10881360" cy="274320"/>
          </a:xfrm>
          <a:prstGeom prst="rect">
            <a:avLst/>
          </a:prstGeom>
          <a:noFill/>
          <a:ln/>
        </p:spPr>
        <p:txBody>
          <a:bodyPr wrap="square" lIns="0" tIns="0" rIns="0" bIns="0" rtlCol="0" anchor="ctr"/>
          <a:lstStyle/>
          <a:p>
            <a:pPr algn="ctr" indent="0" marL="0">
              <a:buNone/>
            </a:pPr>
            <a:r>
              <a:rPr lang="en-US" sz="1200" b="1" dirty="0">
                <a:solidFill>
                  <a:srgbClr val="DE560E"/>
                </a:solidFill>
                <a:latin typeface="Calibri" pitchFamily="34" charset="0"/>
                <a:ea typeface="Calibri" pitchFamily="34" charset="-122"/>
                <a:cs typeface="Calibri" pitchFamily="34" charset="-120"/>
              </a:rPr>
              <a:t>mybrowser</a:t>
            </a:r>
            <a:pPr algn="ctr" indent="0" marL="0">
              <a:buNone/>
            </a:pPr>
            <a:r>
              <a:rPr lang="en-US" sz="1200" dirty="0">
                <a:solidFill>
                  <a:srgbClr val="9AA0A6"/>
                </a:solidFill>
                <a:latin typeface="Calibri" pitchFamily="34" charset="0"/>
                <a:ea typeface="Calibri" pitchFamily="34" charset="-122"/>
                <a:cs typeface="Calibri" pitchFamily="34" charset="-120"/>
              </a:rPr>
              <a:t>  —  a connector to the Chrome you already use, not a foreign one.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WHY THIS IS DEFENSIBLE</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000" b="1" dirty="0">
                <a:solidFill>
                  <a:srgbClr val="1F262D"/>
                </a:solidFill>
                <a:latin typeface="Cambria" pitchFamily="34" charset="0"/>
                <a:ea typeface="Cambria" pitchFamily="34" charset="-122"/>
                <a:cs typeface="Cambria" pitchFamily="34" charset="-120"/>
              </a:rPr>
              <a:t>The labs build engines. We build the harness.</a:t>
            </a:r>
            <a:endParaRPr lang="en-US" sz="3000" dirty="0"/>
          </a:p>
        </p:txBody>
      </p:sp>
      <p:sp>
        <p:nvSpPr>
          <p:cNvPr id="4" name="Text 2"/>
          <p:cNvSpPr/>
          <p:nvPr/>
        </p:nvSpPr>
        <p:spPr>
          <a:xfrm>
            <a:off x="640080" y="1627632"/>
            <a:ext cx="10607040" cy="365760"/>
          </a:xfrm>
          <a:prstGeom prst="rect">
            <a:avLst/>
          </a:prstGeom>
          <a:noFill/>
          <a:ln/>
        </p:spPr>
        <p:txBody>
          <a:bodyPr wrap="square" lIns="0" tIns="0" rIns="0" bIns="0" rtlCol="0" anchor="ctr"/>
          <a:lstStyle/>
          <a:p>
            <a:pPr indent="0" marL="0">
              <a:buNone/>
            </a:pPr>
            <a:r>
              <a:rPr lang="en-US" sz="1500" dirty="0">
                <a:solidFill>
                  <a:srgbClr val="5C646C"/>
                </a:solidFill>
                <a:latin typeface="Calibri" pitchFamily="34" charset="0"/>
                <a:ea typeface="Calibri" pitchFamily="34" charset="-122"/>
                <a:cs typeface="Calibri" pitchFamily="34" charset="-120"/>
              </a:rPr>
              <a:t>The value comes from deep, non-AI infrastructure the model operates within — product engineering, not prompting.</a:t>
            </a:r>
            <a:endParaRPr lang="en-US" sz="1500" dirty="0"/>
          </a:p>
        </p:txBody>
      </p:sp>
      <p:sp>
        <p:nvSpPr>
          <p:cNvPr id="5" name="Shape 3"/>
          <p:cNvSpPr/>
          <p:nvPr/>
        </p:nvSpPr>
        <p:spPr>
          <a:xfrm>
            <a:off x="640080" y="2331720"/>
            <a:ext cx="3383280" cy="2606040"/>
          </a:xfrm>
          <a:prstGeom prst="roundRect">
            <a:avLst>
              <a:gd name="adj" fmla="val 3158"/>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6" name="Shape 4"/>
          <p:cNvSpPr/>
          <p:nvPr/>
        </p:nvSpPr>
        <p:spPr>
          <a:xfrm>
            <a:off x="1051560" y="2743200"/>
            <a:ext cx="731520" cy="731520"/>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1227125" y="2918765"/>
            <a:ext cx="380390" cy="380390"/>
          </a:xfrm>
          <a:prstGeom prst="rect">
            <a:avLst/>
          </a:prstGeom>
        </p:spPr>
      </p:pic>
      <p:sp>
        <p:nvSpPr>
          <p:cNvPr id="8" name="Text 5"/>
          <p:cNvSpPr/>
          <p:nvPr/>
        </p:nvSpPr>
        <p:spPr>
          <a:xfrm>
            <a:off x="1920240" y="2788920"/>
            <a:ext cx="1920240" cy="274320"/>
          </a:xfrm>
          <a:prstGeom prst="rect">
            <a:avLst/>
          </a:prstGeom>
          <a:noFill/>
          <a:ln/>
        </p:spPr>
        <p:txBody>
          <a:bodyPr wrap="square" lIns="0" tIns="0" rIns="0" bIns="0" rtlCol="0" anchor="ctr"/>
          <a:lstStyle/>
          <a:p>
            <a:pPr indent="0" marL="0">
              <a:buNone/>
            </a:pPr>
            <a:r>
              <a:rPr lang="en-US" sz="1050" b="1" spc="200" kern="0" dirty="0">
                <a:solidFill>
                  <a:srgbClr val="DE560E"/>
                </a:solidFill>
                <a:latin typeface="Calibri" pitchFamily="34" charset="0"/>
                <a:ea typeface="Calibri" pitchFamily="34" charset="-122"/>
                <a:cs typeface="Calibri" pitchFamily="34" charset="-120"/>
              </a:rPr>
              <a:t>LAYER 01</a:t>
            </a:r>
            <a:endParaRPr lang="en-US" sz="1050" dirty="0"/>
          </a:p>
        </p:txBody>
      </p:sp>
      <p:sp>
        <p:nvSpPr>
          <p:cNvPr id="9" name="Text 6"/>
          <p:cNvSpPr/>
          <p:nvPr/>
        </p:nvSpPr>
        <p:spPr>
          <a:xfrm>
            <a:off x="1920240" y="3044952"/>
            <a:ext cx="1920240" cy="411480"/>
          </a:xfrm>
          <a:prstGeom prst="rect">
            <a:avLst/>
          </a:prstGeom>
          <a:noFill/>
          <a:ln/>
        </p:spPr>
        <p:txBody>
          <a:bodyPr wrap="square" lIns="0" tIns="0" rIns="0" bIns="0" rtlCol="0" anchor="ctr"/>
          <a:lstStyle/>
          <a:p>
            <a:pPr indent="0" marL="0">
              <a:buNone/>
            </a:pPr>
            <a:r>
              <a:rPr lang="en-US" sz="1900" b="1" dirty="0">
                <a:solidFill>
                  <a:srgbClr val="1F262D"/>
                </a:solidFill>
                <a:latin typeface="Cambria" pitchFamily="34" charset="0"/>
                <a:ea typeface="Cambria" pitchFamily="34" charset="-122"/>
                <a:cs typeface="Cambria" pitchFamily="34" charset="-120"/>
              </a:rPr>
              <a:t>Process</a:t>
            </a:r>
            <a:endParaRPr lang="en-US" sz="1900" dirty="0"/>
          </a:p>
        </p:txBody>
      </p:sp>
      <p:sp>
        <p:nvSpPr>
          <p:cNvPr id="10" name="Text 7"/>
          <p:cNvSpPr/>
          <p:nvPr/>
        </p:nvSpPr>
        <p:spPr>
          <a:xfrm>
            <a:off x="1051560" y="3703320"/>
            <a:ext cx="2560320" cy="1097280"/>
          </a:xfrm>
          <a:prstGeom prst="rect">
            <a:avLst/>
          </a:prstGeom>
          <a:noFill/>
          <a:ln/>
        </p:spPr>
        <p:txBody>
          <a:bodyPr wrap="square" lIns="0" tIns="0" rIns="0" bIns="0" rtlCol="0" anchor="t"/>
          <a:lstStyle/>
          <a:p>
            <a:pPr indent="0" marL="0">
              <a:lnSpc>
                <a:spcPct val="112000"/>
              </a:lnSpc>
              <a:buNone/>
            </a:pPr>
            <a:r>
              <a:rPr lang="en-US" sz="1300" dirty="0">
                <a:solidFill>
                  <a:srgbClr val="5C646C"/>
                </a:solidFill>
                <a:latin typeface="Calibri" pitchFamily="34" charset="0"/>
                <a:ea typeface="Calibri" pitchFamily="34" charset="-122"/>
                <a:cs typeface="Calibri" pitchFamily="34" charset="-120"/>
              </a:rPr>
              <a:t>A deterministic pipeline: file-based state, multi-channel gates, timeout escalation, crash-resumable recovery.</a:t>
            </a:r>
            <a:endParaRPr lang="en-US" sz="1300" dirty="0"/>
          </a:p>
        </p:txBody>
      </p:sp>
      <p:sp>
        <p:nvSpPr>
          <p:cNvPr id="11" name="Shape 8"/>
          <p:cNvSpPr/>
          <p:nvPr/>
        </p:nvSpPr>
        <p:spPr>
          <a:xfrm>
            <a:off x="4480560" y="2331720"/>
            <a:ext cx="3383280" cy="2606040"/>
          </a:xfrm>
          <a:prstGeom prst="roundRect">
            <a:avLst>
              <a:gd name="adj" fmla="val 3158"/>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2" name="Shape 9"/>
          <p:cNvSpPr/>
          <p:nvPr/>
        </p:nvSpPr>
        <p:spPr>
          <a:xfrm>
            <a:off x="4892040" y="2743200"/>
            <a:ext cx="731520" cy="731520"/>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13" name="Image 1" descr="preencoded.png">    </p:cNvPr>
          <p:cNvPicPr>
            <a:picLocks noChangeAspect="1"/>
          </p:cNvPicPr>
          <p:nvPr/>
        </p:nvPicPr>
        <p:blipFill>
          <a:blip r:embed="rId2"/>
          <a:stretch>
            <a:fillRect/>
          </a:stretch>
        </p:blipFill>
        <p:spPr>
          <a:xfrm>
            <a:off x="5067605" y="2918765"/>
            <a:ext cx="380390" cy="380390"/>
          </a:xfrm>
          <a:prstGeom prst="rect">
            <a:avLst/>
          </a:prstGeom>
        </p:spPr>
      </p:pic>
      <p:sp>
        <p:nvSpPr>
          <p:cNvPr id="14" name="Text 10"/>
          <p:cNvSpPr/>
          <p:nvPr/>
        </p:nvSpPr>
        <p:spPr>
          <a:xfrm>
            <a:off x="5760720" y="2788920"/>
            <a:ext cx="1920240" cy="274320"/>
          </a:xfrm>
          <a:prstGeom prst="rect">
            <a:avLst/>
          </a:prstGeom>
          <a:noFill/>
          <a:ln/>
        </p:spPr>
        <p:txBody>
          <a:bodyPr wrap="square" lIns="0" tIns="0" rIns="0" bIns="0" rtlCol="0" anchor="ctr"/>
          <a:lstStyle/>
          <a:p>
            <a:pPr indent="0" marL="0">
              <a:buNone/>
            </a:pPr>
            <a:r>
              <a:rPr lang="en-US" sz="1050" b="1" spc="200" kern="0" dirty="0">
                <a:solidFill>
                  <a:srgbClr val="DE560E"/>
                </a:solidFill>
                <a:latin typeface="Calibri" pitchFamily="34" charset="0"/>
                <a:ea typeface="Calibri" pitchFamily="34" charset="-122"/>
                <a:cs typeface="Calibri" pitchFamily="34" charset="-120"/>
              </a:rPr>
              <a:t>LAYER 02</a:t>
            </a:r>
            <a:endParaRPr lang="en-US" sz="1050" dirty="0"/>
          </a:p>
        </p:txBody>
      </p:sp>
      <p:sp>
        <p:nvSpPr>
          <p:cNvPr id="15" name="Text 11"/>
          <p:cNvSpPr/>
          <p:nvPr/>
        </p:nvSpPr>
        <p:spPr>
          <a:xfrm>
            <a:off x="5760720" y="3044952"/>
            <a:ext cx="1920240" cy="411480"/>
          </a:xfrm>
          <a:prstGeom prst="rect">
            <a:avLst/>
          </a:prstGeom>
          <a:noFill/>
          <a:ln/>
        </p:spPr>
        <p:txBody>
          <a:bodyPr wrap="square" lIns="0" tIns="0" rIns="0" bIns="0" rtlCol="0" anchor="ctr"/>
          <a:lstStyle/>
          <a:p>
            <a:pPr indent="0" marL="0">
              <a:buNone/>
            </a:pPr>
            <a:r>
              <a:rPr lang="en-US" sz="1900" b="1" dirty="0">
                <a:solidFill>
                  <a:srgbClr val="1F262D"/>
                </a:solidFill>
                <a:latin typeface="Cambria" pitchFamily="34" charset="0"/>
                <a:ea typeface="Cambria" pitchFamily="34" charset="-122"/>
                <a:cs typeface="Cambria" pitchFamily="34" charset="-120"/>
              </a:rPr>
              <a:t>Interface</a:t>
            </a:r>
            <a:endParaRPr lang="en-US" sz="1900" dirty="0"/>
          </a:p>
        </p:txBody>
      </p:sp>
      <p:sp>
        <p:nvSpPr>
          <p:cNvPr id="16" name="Text 12"/>
          <p:cNvSpPr/>
          <p:nvPr/>
        </p:nvSpPr>
        <p:spPr>
          <a:xfrm>
            <a:off x="4892040" y="3703320"/>
            <a:ext cx="2560320" cy="1097280"/>
          </a:xfrm>
          <a:prstGeom prst="rect">
            <a:avLst/>
          </a:prstGeom>
          <a:noFill/>
          <a:ln/>
        </p:spPr>
        <p:txBody>
          <a:bodyPr wrap="square" lIns="0" tIns="0" rIns="0" bIns="0" rtlCol="0" anchor="t"/>
          <a:lstStyle/>
          <a:p>
            <a:pPr indent="0" marL="0">
              <a:lnSpc>
                <a:spcPct val="112000"/>
              </a:lnSpc>
              <a:buNone/>
            </a:pPr>
            <a:r>
              <a:rPr lang="en-US" sz="1300" dirty="0">
                <a:solidFill>
                  <a:srgbClr val="5C646C"/>
                </a:solidFill>
                <a:latin typeface="Calibri" pitchFamily="34" charset="0"/>
                <a:ea typeface="Calibri" pitchFamily="34" charset="-122"/>
                <a:cs typeface="Calibri" pitchFamily="34" charset="-120"/>
              </a:rPr>
              <a:t>Operating a user’s real machine and browser, as them. Can’t be retrofitted onto a cloud IDE — it has to be the architecture.</a:t>
            </a:r>
            <a:endParaRPr lang="en-US" sz="1300" dirty="0"/>
          </a:p>
        </p:txBody>
      </p:sp>
      <p:sp>
        <p:nvSpPr>
          <p:cNvPr id="17" name="Shape 13"/>
          <p:cNvSpPr/>
          <p:nvPr/>
        </p:nvSpPr>
        <p:spPr>
          <a:xfrm>
            <a:off x="8321040" y="2331720"/>
            <a:ext cx="3383280" cy="2606040"/>
          </a:xfrm>
          <a:prstGeom prst="roundRect">
            <a:avLst>
              <a:gd name="adj" fmla="val 3158"/>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8" name="Shape 14"/>
          <p:cNvSpPr/>
          <p:nvPr/>
        </p:nvSpPr>
        <p:spPr>
          <a:xfrm>
            <a:off x="8732520" y="2743200"/>
            <a:ext cx="731520" cy="731520"/>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19" name="Image 2" descr="preencoded.png">    </p:cNvPr>
          <p:cNvPicPr>
            <a:picLocks noChangeAspect="1"/>
          </p:cNvPicPr>
          <p:nvPr/>
        </p:nvPicPr>
        <p:blipFill>
          <a:blip r:embed="rId3"/>
          <a:stretch>
            <a:fillRect/>
          </a:stretch>
        </p:blipFill>
        <p:spPr>
          <a:xfrm>
            <a:off x="8908085" y="2918765"/>
            <a:ext cx="380390" cy="380390"/>
          </a:xfrm>
          <a:prstGeom prst="rect">
            <a:avLst/>
          </a:prstGeom>
        </p:spPr>
      </p:pic>
      <p:sp>
        <p:nvSpPr>
          <p:cNvPr id="20" name="Text 15"/>
          <p:cNvSpPr/>
          <p:nvPr/>
        </p:nvSpPr>
        <p:spPr>
          <a:xfrm>
            <a:off x="9601200" y="2788920"/>
            <a:ext cx="1920240" cy="274320"/>
          </a:xfrm>
          <a:prstGeom prst="rect">
            <a:avLst/>
          </a:prstGeom>
          <a:noFill/>
          <a:ln/>
        </p:spPr>
        <p:txBody>
          <a:bodyPr wrap="square" lIns="0" tIns="0" rIns="0" bIns="0" rtlCol="0" anchor="ctr"/>
          <a:lstStyle/>
          <a:p>
            <a:pPr indent="0" marL="0">
              <a:buNone/>
            </a:pPr>
            <a:r>
              <a:rPr lang="en-US" sz="1050" b="1" spc="200" kern="0" dirty="0">
                <a:solidFill>
                  <a:srgbClr val="DE560E"/>
                </a:solidFill>
                <a:latin typeface="Calibri" pitchFamily="34" charset="0"/>
                <a:ea typeface="Calibri" pitchFamily="34" charset="-122"/>
                <a:cs typeface="Calibri" pitchFamily="34" charset="-120"/>
              </a:rPr>
              <a:t>LAYER 03</a:t>
            </a:r>
            <a:endParaRPr lang="en-US" sz="1050" dirty="0"/>
          </a:p>
        </p:txBody>
      </p:sp>
      <p:sp>
        <p:nvSpPr>
          <p:cNvPr id="21" name="Text 16"/>
          <p:cNvSpPr/>
          <p:nvPr/>
        </p:nvSpPr>
        <p:spPr>
          <a:xfrm>
            <a:off x="9601200" y="3044952"/>
            <a:ext cx="1920240" cy="411480"/>
          </a:xfrm>
          <a:prstGeom prst="rect">
            <a:avLst/>
          </a:prstGeom>
          <a:noFill/>
          <a:ln/>
        </p:spPr>
        <p:txBody>
          <a:bodyPr wrap="square" lIns="0" tIns="0" rIns="0" bIns="0" rtlCol="0" anchor="ctr"/>
          <a:lstStyle/>
          <a:p>
            <a:pPr indent="0" marL="0">
              <a:buNone/>
            </a:pPr>
            <a:r>
              <a:rPr lang="en-US" sz="1900" b="1" dirty="0">
                <a:solidFill>
                  <a:srgbClr val="1F262D"/>
                </a:solidFill>
                <a:latin typeface="Cambria" pitchFamily="34" charset="0"/>
                <a:ea typeface="Cambria" pitchFamily="34" charset="-122"/>
                <a:cs typeface="Cambria" pitchFamily="34" charset="-120"/>
              </a:rPr>
              <a:t>Orchestration</a:t>
            </a:r>
            <a:endParaRPr lang="en-US" sz="1900" dirty="0"/>
          </a:p>
        </p:txBody>
      </p:sp>
      <p:sp>
        <p:nvSpPr>
          <p:cNvPr id="22" name="Text 17"/>
          <p:cNvSpPr/>
          <p:nvPr/>
        </p:nvSpPr>
        <p:spPr>
          <a:xfrm>
            <a:off x="8732520" y="3703320"/>
            <a:ext cx="2560320" cy="1097280"/>
          </a:xfrm>
          <a:prstGeom prst="rect">
            <a:avLst/>
          </a:prstGeom>
          <a:noFill/>
          <a:ln/>
        </p:spPr>
        <p:txBody>
          <a:bodyPr wrap="square" lIns="0" tIns="0" rIns="0" bIns="0" rtlCol="0" anchor="t"/>
          <a:lstStyle/>
          <a:p>
            <a:pPr indent="0" marL="0">
              <a:lnSpc>
                <a:spcPct val="112000"/>
              </a:lnSpc>
              <a:buNone/>
            </a:pPr>
            <a:r>
              <a:rPr lang="en-US" sz="1300" dirty="0">
                <a:solidFill>
                  <a:srgbClr val="5C646C"/>
                </a:solidFill>
                <a:latin typeface="Calibri" pitchFamily="34" charset="0"/>
                <a:ea typeface="Calibri" pitchFamily="34" charset="-122"/>
                <a:cs typeface="Calibri" pitchFamily="34" charset="-120"/>
              </a:rPr>
              <a:t>Scoped agents that build, maintain and verify — plus delivery memory that compounds per seat as the team uses it.</a:t>
            </a:r>
            <a:endParaRPr lang="en-US" sz="1300" dirty="0"/>
          </a:p>
        </p:txBody>
      </p:sp>
      <p:sp>
        <p:nvSpPr>
          <p:cNvPr id="23" name="Shape 18"/>
          <p:cNvSpPr/>
          <p:nvPr/>
        </p:nvSpPr>
        <p:spPr>
          <a:xfrm>
            <a:off x="640080" y="5166360"/>
            <a:ext cx="10908792" cy="1097280"/>
          </a:xfrm>
          <a:prstGeom prst="roundRect">
            <a:avLst>
              <a:gd name="adj" fmla="val 7500"/>
            </a:avLst>
          </a:prstGeom>
          <a:solidFill>
            <a:srgbClr val="161B20"/>
          </a:solidFill>
          <a:ln w="12700">
            <a:solidFill>
              <a:srgbClr val="D6D8D3"/>
            </a:solidFill>
            <a:prstDash val="solid"/>
          </a:ln>
        </p:spPr>
      </p:sp>
      <p:pic>
        <p:nvPicPr>
          <p:cNvPr id="24" name="Image 3" descr="preencoded.png">    </p:cNvPr>
          <p:cNvPicPr>
            <a:picLocks noChangeAspect="1"/>
          </p:cNvPicPr>
          <p:nvPr/>
        </p:nvPicPr>
        <p:blipFill>
          <a:blip r:embed="rId4"/>
          <a:stretch>
            <a:fillRect/>
          </a:stretch>
        </p:blipFill>
        <p:spPr>
          <a:xfrm>
            <a:off x="1051560" y="5440680"/>
            <a:ext cx="457200" cy="457200"/>
          </a:xfrm>
          <a:prstGeom prst="rect">
            <a:avLst/>
          </a:prstGeom>
        </p:spPr>
      </p:pic>
      <p:sp>
        <p:nvSpPr>
          <p:cNvPr id="25" name="Text 19"/>
          <p:cNvSpPr/>
          <p:nvPr/>
        </p:nvSpPr>
        <p:spPr>
          <a:xfrm>
            <a:off x="1737360" y="5166360"/>
            <a:ext cx="9537192" cy="1097280"/>
          </a:xfrm>
          <a:prstGeom prst="rect">
            <a:avLst/>
          </a:prstGeom>
          <a:noFill/>
          <a:ln/>
        </p:spPr>
        <p:txBody>
          <a:bodyPr wrap="square" lIns="0" tIns="0" rIns="0" bIns="0" rtlCol="0" anchor="ctr"/>
          <a:lstStyle/>
          <a:p>
            <a:pPr indent="0" marL="0">
              <a:lnSpc>
                <a:spcPct val="112000"/>
              </a:lnSpc>
              <a:buNone/>
            </a:pPr>
            <a:r>
              <a:rPr lang="en-US" sz="1300" b="1" dirty="0">
                <a:solidFill>
                  <a:srgbClr val="FFFFFF"/>
                </a:solidFill>
                <a:latin typeface="Calibri" pitchFamily="34" charset="0"/>
                <a:ea typeface="Calibri" pitchFamily="34" charset="-122"/>
                <a:cs typeface="Calibri" pitchFamily="34" charset="-120"/>
              </a:rPr>
              <a:t>And on Lyra’s ground specifically:  </a:t>
            </a:r>
            <a:pPr indent="0" marL="0">
              <a:lnSpc>
                <a:spcPct val="112000"/>
              </a:lnSpc>
              <a:buNone/>
            </a:pPr>
            <a:r>
              <a:rPr lang="en-US" sz="1300" dirty="0">
                <a:solidFill>
                  <a:srgbClr val="9AA0A6"/>
                </a:solidFill>
                <a:latin typeface="Calibri" pitchFamily="34" charset="0"/>
                <a:ea typeface="Calibri" pitchFamily="34" charset="-122"/>
                <a:cs typeface="Calibri" pitchFamily="34" charset="-120"/>
              </a:rPr>
              <a:t>gluing an agent to a firm’s own fleet of laptops and client quirks is high-touch, low-margin work a platform vendor won’t chase — and the real-browser path sits in a grey zone the giants won’t touch.</a:t>
            </a:r>
            <a:endParaRPr lang="en-US" sz="1300" dirty="0"/>
          </a:p>
        </p:txBody>
      </p:sp>
      <p:sp>
        <p:nvSpPr>
          <p:cNvPr id="26" name="Text 20"/>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136B3F"/>
                </a:solidFill>
                <a:latin typeface="Calibri" pitchFamily="34" charset="0"/>
                <a:ea typeface="Calibri" pitchFamily="34" charset="-122"/>
                <a:cs typeface="Calibri" pitchFamily="34" charset="-120"/>
              </a:rPr>
              <a:t>ALREADY REAL</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000" b="1" dirty="0">
                <a:solidFill>
                  <a:srgbClr val="1F262D"/>
                </a:solidFill>
                <a:latin typeface="Cambria" pitchFamily="34" charset="0"/>
                <a:ea typeface="Cambria" pitchFamily="34" charset="-122"/>
                <a:cs typeface="Cambria" pitchFamily="34" charset="-120"/>
              </a:rPr>
              <a:t>Not a concept deck. In paid production.</a:t>
            </a:r>
            <a:endParaRPr lang="en-US" sz="3000" dirty="0"/>
          </a:p>
        </p:txBody>
      </p:sp>
      <p:sp>
        <p:nvSpPr>
          <p:cNvPr id="4" name="Shape 2"/>
          <p:cNvSpPr/>
          <p:nvPr/>
        </p:nvSpPr>
        <p:spPr>
          <a:xfrm>
            <a:off x="640080" y="2468880"/>
            <a:ext cx="3383280" cy="2743200"/>
          </a:xfrm>
          <a:prstGeom prst="roundRect">
            <a:avLst>
              <a:gd name="adj" fmla="val 3000"/>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5" name="Text 3"/>
          <p:cNvSpPr/>
          <p:nvPr/>
        </p:nvSpPr>
        <p:spPr>
          <a:xfrm>
            <a:off x="1005840" y="2880360"/>
            <a:ext cx="2651760" cy="1005840"/>
          </a:xfrm>
          <a:prstGeom prst="rect">
            <a:avLst/>
          </a:prstGeom>
          <a:noFill/>
          <a:ln/>
        </p:spPr>
        <p:txBody>
          <a:bodyPr wrap="square" lIns="0" tIns="0" rIns="0" bIns="0" rtlCol="0" anchor="ctr"/>
          <a:lstStyle/>
          <a:p>
            <a:pPr algn="l" indent="0" marL="0">
              <a:buNone/>
            </a:pPr>
            <a:r>
              <a:rPr lang="en-US" sz="5600" b="1" dirty="0">
                <a:solidFill>
                  <a:srgbClr val="1C9356"/>
                </a:solidFill>
                <a:latin typeface="Cambria" pitchFamily="34" charset="0"/>
                <a:ea typeface="Cambria" pitchFamily="34" charset="-122"/>
                <a:cs typeface="Cambria" pitchFamily="34" charset="-120"/>
              </a:rPr>
              <a:t>4</a:t>
            </a:r>
            <a:endParaRPr lang="en-US" sz="5600" dirty="0"/>
          </a:p>
        </p:txBody>
      </p:sp>
      <p:sp>
        <p:nvSpPr>
          <p:cNvPr id="6" name="Text 4"/>
          <p:cNvSpPr/>
          <p:nvPr/>
        </p:nvSpPr>
        <p:spPr>
          <a:xfrm>
            <a:off x="1051560" y="3931920"/>
            <a:ext cx="2560320" cy="365760"/>
          </a:xfrm>
          <a:prstGeom prst="rect">
            <a:avLst/>
          </a:prstGeom>
          <a:noFill/>
          <a:ln/>
        </p:spPr>
        <p:txBody>
          <a:bodyPr wrap="square" lIns="0" tIns="0" rIns="0" bIns="0" rtlCol="0" anchor="ctr"/>
          <a:lstStyle/>
          <a:p>
            <a:pPr indent="0" marL="0">
              <a:buNone/>
            </a:pPr>
            <a:r>
              <a:rPr lang="en-US" sz="1700" b="1" dirty="0">
                <a:solidFill>
                  <a:srgbClr val="1F262D"/>
                </a:solidFill>
                <a:latin typeface="Cambria" pitchFamily="34" charset="0"/>
                <a:ea typeface="Cambria" pitchFamily="34" charset="-122"/>
                <a:cs typeface="Cambria" pitchFamily="34" charset="-120"/>
              </a:rPr>
              <a:t>paying companies</a:t>
            </a:r>
            <a:endParaRPr lang="en-US" sz="1700" dirty="0"/>
          </a:p>
        </p:txBody>
      </p:sp>
      <p:sp>
        <p:nvSpPr>
          <p:cNvPr id="7" name="Text 5"/>
          <p:cNvSpPr/>
          <p:nvPr/>
        </p:nvSpPr>
        <p:spPr>
          <a:xfrm>
            <a:off x="1051560" y="4343400"/>
            <a:ext cx="2560320" cy="731520"/>
          </a:xfrm>
          <a:prstGeom prst="rect">
            <a:avLst/>
          </a:prstGeom>
          <a:noFill/>
          <a:ln/>
        </p:spPr>
        <p:txBody>
          <a:bodyPr wrap="square" lIns="0" tIns="0" rIns="0" bIns="0" rtlCol="0" anchor="t"/>
          <a:lstStyle/>
          <a:p>
            <a:pPr indent="0" marL="0">
              <a:lnSpc>
                <a:spcPct val="112000"/>
              </a:lnSpc>
              <a:buNone/>
            </a:pPr>
            <a:r>
              <a:rPr lang="en-US" sz="1300" dirty="0">
                <a:solidFill>
                  <a:srgbClr val="5C646C"/>
                </a:solidFill>
                <a:latin typeface="Calibri" pitchFamily="34" charset="0"/>
                <a:ea typeface="Calibri" pitchFamily="34" charset="-122"/>
                <a:cs typeface="Calibri" pitchFamily="34" charset="-120"/>
              </a:rPr>
              <a:t>running real delivery through the harness today</a:t>
            </a:r>
            <a:endParaRPr lang="en-US" sz="1300" dirty="0"/>
          </a:p>
        </p:txBody>
      </p:sp>
      <p:sp>
        <p:nvSpPr>
          <p:cNvPr id="8" name="Shape 6"/>
          <p:cNvSpPr/>
          <p:nvPr/>
        </p:nvSpPr>
        <p:spPr>
          <a:xfrm>
            <a:off x="4480560" y="2468880"/>
            <a:ext cx="3383280" cy="2743200"/>
          </a:xfrm>
          <a:prstGeom prst="roundRect">
            <a:avLst>
              <a:gd name="adj" fmla="val 3000"/>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9" name="Text 7"/>
          <p:cNvSpPr/>
          <p:nvPr/>
        </p:nvSpPr>
        <p:spPr>
          <a:xfrm>
            <a:off x="4846320" y="2880360"/>
            <a:ext cx="2651760" cy="1005840"/>
          </a:xfrm>
          <a:prstGeom prst="rect">
            <a:avLst/>
          </a:prstGeom>
          <a:noFill/>
          <a:ln/>
        </p:spPr>
        <p:txBody>
          <a:bodyPr wrap="square" lIns="0" tIns="0" rIns="0" bIns="0" rtlCol="0" anchor="ctr"/>
          <a:lstStyle/>
          <a:p>
            <a:pPr algn="l" indent="0" marL="0">
              <a:buNone/>
            </a:pPr>
            <a:r>
              <a:rPr lang="en-US" sz="5600" b="1" dirty="0">
                <a:solidFill>
                  <a:srgbClr val="1C9356"/>
                </a:solidFill>
                <a:latin typeface="Cambria" pitchFamily="34" charset="0"/>
                <a:ea typeface="Cambria" pitchFamily="34" charset="-122"/>
                <a:cs typeface="Cambria" pitchFamily="34" charset="-120"/>
              </a:rPr>
              <a:t>$60K</a:t>
            </a:r>
            <a:endParaRPr lang="en-US" sz="5600" dirty="0"/>
          </a:p>
        </p:txBody>
      </p:sp>
      <p:sp>
        <p:nvSpPr>
          <p:cNvPr id="10" name="Text 8"/>
          <p:cNvSpPr/>
          <p:nvPr/>
        </p:nvSpPr>
        <p:spPr>
          <a:xfrm>
            <a:off x="4892040" y="3931920"/>
            <a:ext cx="2560320" cy="365760"/>
          </a:xfrm>
          <a:prstGeom prst="rect">
            <a:avLst/>
          </a:prstGeom>
          <a:noFill/>
          <a:ln/>
        </p:spPr>
        <p:txBody>
          <a:bodyPr wrap="square" lIns="0" tIns="0" rIns="0" bIns="0" rtlCol="0" anchor="ctr"/>
          <a:lstStyle/>
          <a:p>
            <a:pPr indent="0" marL="0">
              <a:buNone/>
            </a:pPr>
            <a:r>
              <a:rPr lang="en-US" sz="1700" b="1" dirty="0">
                <a:solidFill>
                  <a:srgbClr val="1F262D"/>
                </a:solidFill>
                <a:latin typeface="Cambria" pitchFamily="34" charset="0"/>
                <a:ea typeface="Cambria" pitchFamily="34" charset="-122"/>
                <a:cs typeface="Cambria" pitchFamily="34" charset="-120"/>
              </a:rPr>
              <a:t>first enterprise pilot</a:t>
            </a:r>
            <a:endParaRPr lang="en-US" sz="1700" dirty="0"/>
          </a:p>
        </p:txBody>
      </p:sp>
      <p:sp>
        <p:nvSpPr>
          <p:cNvPr id="11" name="Text 9"/>
          <p:cNvSpPr/>
          <p:nvPr/>
        </p:nvSpPr>
        <p:spPr>
          <a:xfrm>
            <a:off x="4892040" y="4343400"/>
            <a:ext cx="2560320" cy="731520"/>
          </a:xfrm>
          <a:prstGeom prst="rect">
            <a:avLst/>
          </a:prstGeom>
          <a:noFill/>
          <a:ln/>
        </p:spPr>
        <p:txBody>
          <a:bodyPr wrap="square" lIns="0" tIns="0" rIns="0" bIns="0" rtlCol="0" anchor="t"/>
          <a:lstStyle/>
          <a:p>
            <a:pPr indent="0" marL="0">
              <a:lnSpc>
                <a:spcPct val="112000"/>
              </a:lnSpc>
              <a:buNone/>
            </a:pPr>
            <a:r>
              <a:rPr lang="en-US" sz="1300" dirty="0">
                <a:solidFill>
                  <a:srgbClr val="5C646C"/>
                </a:solidFill>
                <a:latin typeface="Calibri" pitchFamily="34" charset="0"/>
                <a:ea typeface="Calibri" pitchFamily="34" charset="-122"/>
                <a:cs typeface="Calibri" pitchFamily="34" charset="-120"/>
              </a:rPr>
              <a:t>with active trials running alongside it</a:t>
            </a:r>
            <a:endParaRPr lang="en-US" sz="1300" dirty="0"/>
          </a:p>
        </p:txBody>
      </p:sp>
      <p:sp>
        <p:nvSpPr>
          <p:cNvPr id="12" name="Shape 10"/>
          <p:cNvSpPr/>
          <p:nvPr/>
        </p:nvSpPr>
        <p:spPr>
          <a:xfrm>
            <a:off x="8321040" y="2468880"/>
            <a:ext cx="3383280" cy="2743200"/>
          </a:xfrm>
          <a:prstGeom prst="roundRect">
            <a:avLst>
              <a:gd name="adj" fmla="val 3000"/>
            </a:avLst>
          </a:prstGeom>
          <a:solidFill>
            <a:srgbClr val="E7F3EC"/>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3" name="Text 11"/>
          <p:cNvSpPr/>
          <p:nvPr/>
        </p:nvSpPr>
        <p:spPr>
          <a:xfrm>
            <a:off x="8686800" y="2880360"/>
            <a:ext cx="2651760" cy="1005840"/>
          </a:xfrm>
          <a:prstGeom prst="rect">
            <a:avLst/>
          </a:prstGeom>
          <a:noFill/>
          <a:ln/>
        </p:spPr>
        <p:txBody>
          <a:bodyPr wrap="square" lIns="0" tIns="0" rIns="0" bIns="0" rtlCol="0" anchor="ctr"/>
          <a:lstStyle/>
          <a:p>
            <a:pPr algn="l" indent="0" marL="0">
              <a:buNone/>
            </a:pPr>
            <a:r>
              <a:rPr lang="en-US" sz="5600" b="1" dirty="0">
                <a:solidFill>
                  <a:srgbClr val="136B3F"/>
                </a:solidFill>
                <a:latin typeface="Cambria" pitchFamily="34" charset="0"/>
                <a:ea typeface="Cambria" pitchFamily="34" charset="-122"/>
                <a:cs typeface="Cambria" pitchFamily="34" charset="-120"/>
              </a:rPr>
              <a:t>live</a:t>
            </a:r>
            <a:endParaRPr lang="en-US" sz="5600" dirty="0"/>
          </a:p>
        </p:txBody>
      </p:sp>
      <p:sp>
        <p:nvSpPr>
          <p:cNvPr id="14" name="Text 12"/>
          <p:cNvSpPr/>
          <p:nvPr/>
        </p:nvSpPr>
        <p:spPr>
          <a:xfrm>
            <a:off x="8732520" y="3931920"/>
            <a:ext cx="2560320" cy="365760"/>
          </a:xfrm>
          <a:prstGeom prst="rect">
            <a:avLst/>
          </a:prstGeom>
          <a:noFill/>
          <a:ln/>
        </p:spPr>
        <p:txBody>
          <a:bodyPr wrap="square" lIns="0" tIns="0" rIns="0" bIns="0" rtlCol="0" anchor="ctr"/>
          <a:lstStyle/>
          <a:p>
            <a:pPr indent="0" marL="0">
              <a:buNone/>
            </a:pPr>
            <a:r>
              <a:rPr lang="en-US" sz="1700" b="1" dirty="0">
                <a:solidFill>
                  <a:srgbClr val="1F262D"/>
                </a:solidFill>
                <a:latin typeface="Cambria" pitchFamily="34" charset="0"/>
                <a:ea typeface="Cambria" pitchFamily="34" charset="-122"/>
                <a:cs typeface="Cambria" pitchFamily="34" charset="-120"/>
              </a:rPr>
              <a:t>working pipeline</a:t>
            </a:r>
            <a:endParaRPr lang="en-US" sz="1700" dirty="0"/>
          </a:p>
        </p:txBody>
      </p:sp>
      <p:sp>
        <p:nvSpPr>
          <p:cNvPr id="15" name="Text 13"/>
          <p:cNvSpPr/>
          <p:nvPr/>
        </p:nvSpPr>
        <p:spPr>
          <a:xfrm>
            <a:off x="8732520" y="4343400"/>
            <a:ext cx="2560320" cy="731520"/>
          </a:xfrm>
          <a:prstGeom prst="rect">
            <a:avLst/>
          </a:prstGeom>
          <a:noFill/>
          <a:ln/>
        </p:spPr>
        <p:txBody>
          <a:bodyPr wrap="square" lIns="0" tIns="0" rIns="0" bIns="0" rtlCol="0" anchor="t"/>
          <a:lstStyle/>
          <a:p>
            <a:pPr indent="0" marL="0">
              <a:lnSpc>
                <a:spcPct val="112000"/>
              </a:lnSpc>
              <a:buNone/>
            </a:pPr>
            <a:r>
              <a:rPr lang="en-US" sz="1300" dirty="0">
                <a:solidFill>
                  <a:srgbClr val="5C646C"/>
                </a:solidFill>
                <a:latin typeface="Calibri" pitchFamily="34" charset="0"/>
                <a:ea typeface="Calibri" pitchFamily="34" charset="-122"/>
                <a:cs typeface="Calibri" pitchFamily="34" charset="-120"/>
              </a:rPr>
              <a:t>verified outcomes, real customers — not slideware</a:t>
            </a:r>
            <a:endParaRPr lang="en-US" sz="1300" dirty="0"/>
          </a:p>
        </p:txBody>
      </p:sp>
      <p:sp>
        <p:nvSpPr>
          <p:cNvPr id="16" name="Text 14"/>
          <p:cNvSpPr/>
          <p:nvPr/>
        </p:nvSpPr>
        <p:spPr>
          <a:xfrm>
            <a:off x="640080" y="5532120"/>
            <a:ext cx="10908792" cy="457200"/>
          </a:xfrm>
          <a:prstGeom prst="rect">
            <a:avLst/>
          </a:prstGeom>
          <a:noFill/>
          <a:ln/>
        </p:spPr>
        <p:txBody>
          <a:bodyPr wrap="square" lIns="0" tIns="0" rIns="0" bIns="0" rtlCol="0" anchor="ctr"/>
          <a:lstStyle/>
          <a:p>
            <a:pPr indent="0" marL="0">
              <a:buNone/>
            </a:pPr>
            <a:r>
              <a:rPr lang="en-US" sz="1400" i="1" dirty="0">
                <a:solidFill>
                  <a:srgbClr val="5C646C"/>
                </a:solidFill>
                <a:latin typeface="Calibri" pitchFamily="34" charset="0"/>
                <a:ea typeface="Calibri" pitchFamily="34" charset="-122"/>
                <a:cs typeface="Calibri" pitchFamily="34" charset="-120"/>
              </a:rPr>
              <a:t>A working pipeline plus an assembled, paying audience — the foundation Lyra would build on, not a promise of one.</a:t>
            </a:r>
            <a:endParaRPr lang="en-US" sz="1400" dirty="0"/>
          </a:p>
        </p:txBody>
      </p:sp>
      <p:sp>
        <p:nvSpPr>
          <p:cNvPr id="17" name="Text 15"/>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THE CASE FOR LYRA · PER SEAT</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000" b="1" dirty="0">
                <a:solidFill>
                  <a:srgbClr val="1F262D"/>
                </a:solidFill>
                <a:latin typeface="Cambria" pitchFamily="34" charset="0"/>
                <a:ea typeface="Cambria" pitchFamily="34" charset="-122"/>
                <a:cs typeface="Cambria" pitchFamily="34" charset="-120"/>
              </a:rPr>
              <a:t>Priced per engineer. It pays for itself.</a:t>
            </a:r>
            <a:endParaRPr lang="en-US" sz="3000" dirty="0"/>
          </a:p>
        </p:txBody>
      </p:sp>
      <p:sp>
        <p:nvSpPr>
          <p:cNvPr id="4" name="Shape 2"/>
          <p:cNvSpPr/>
          <p:nvPr/>
        </p:nvSpPr>
        <p:spPr>
          <a:xfrm>
            <a:off x="640080" y="2834640"/>
            <a:ext cx="914400" cy="914400"/>
          </a:xfrm>
          <a:prstGeom prst="ellipse">
            <a:avLst/>
          </a:prstGeom>
          <a:solidFill>
            <a:srgbClr val="DE560E"/>
          </a:solidFill>
          <a:ln/>
          <a:effectLst>
            <a:outerShdw sx="100000" sy="100000" kx="0" ky="0" algn="bl" rotWithShape="0" blurRad="88900" dist="38100" dir="54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859536" y="3054096"/>
            <a:ext cx="475488" cy="475488"/>
          </a:xfrm>
          <a:prstGeom prst="rect">
            <a:avLst/>
          </a:prstGeom>
        </p:spPr>
      </p:pic>
      <p:sp>
        <p:nvSpPr>
          <p:cNvPr id="6" name="Text 3"/>
          <p:cNvSpPr/>
          <p:nvPr/>
        </p:nvSpPr>
        <p:spPr>
          <a:xfrm>
            <a:off x="502920" y="3794760"/>
            <a:ext cx="1188720" cy="320040"/>
          </a:xfrm>
          <a:prstGeom prst="rect">
            <a:avLst/>
          </a:prstGeom>
          <a:noFill/>
          <a:ln/>
        </p:spPr>
        <p:txBody>
          <a:bodyPr wrap="square" lIns="0" tIns="0" rIns="0" bIns="0" rtlCol="0" anchor="ctr"/>
          <a:lstStyle/>
          <a:p>
            <a:pPr algn="ctr" indent="0" marL="0">
              <a:buNone/>
            </a:pPr>
            <a:r>
              <a:rPr lang="en-US" sz="1150" b="1" dirty="0">
                <a:solidFill>
                  <a:srgbClr val="1F262D"/>
                </a:solidFill>
                <a:latin typeface="Calibri" pitchFamily="34" charset="0"/>
                <a:ea typeface="Calibri" pitchFamily="34" charset="-122"/>
                <a:cs typeface="Calibri" pitchFamily="34" charset="-120"/>
              </a:rPr>
              <a:t>one engineer</a:t>
            </a:r>
            <a:endParaRPr lang="en-US" sz="1150" dirty="0"/>
          </a:p>
        </p:txBody>
      </p:sp>
      <p:sp>
        <p:nvSpPr>
          <p:cNvPr id="7" name="Shape 4"/>
          <p:cNvSpPr/>
          <p:nvPr/>
        </p:nvSpPr>
        <p:spPr>
          <a:xfrm flipV="1">
            <a:off x="1554480" y="3291840"/>
            <a:ext cx="548640" cy="-713232"/>
          </a:xfrm>
          <a:prstGeom prst="line">
            <a:avLst/>
          </a:prstGeom>
          <a:noFill/>
          <a:ln w="19050">
            <a:solidFill>
              <a:srgbClr val="DE560E"/>
            </a:solidFill>
            <a:prstDash val="solid"/>
          </a:ln>
        </p:spPr>
      </p:sp>
      <p:sp>
        <p:nvSpPr>
          <p:cNvPr id="8" name="Shape 5"/>
          <p:cNvSpPr/>
          <p:nvPr/>
        </p:nvSpPr>
        <p:spPr>
          <a:xfrm>
            <a:off x="2103120" y="2331720"/>
            <a:ext cx="9445752" cy="530352"/>
          </a:xfrm>
          <a:prstGeom prst="roundRect">
            <a:avLst>
              <a:gd name="adj" fmla="val 15517"/>
            </a:avLst>
          </a:prstGeom>
          <a:solidFill>
            <a:srgbClr val="F2F2EF"/>
          </a:solidFill>
          <a:ln w="12700">
            <a:solidFill>
              <a:srgbClr val="D6D8D3"/>
            </a:solidFill>
            <a:prstDash val="solid"/>
          </a:ln>
        </p:spPr>
      </p:sp>
      <p:sp>
        <p:nvSpPr>
          <p:cNvPr id="9" name="Shape 6"/>
          <p:cNvSpPr/>
          <p:nvPr/>
        </p:nvSpPr>
        <p:spPr>
          <a:xfrm>
            <a:off x="2377440" y="2523744"/>
            <a:ext cx="146304" cy="146304"/>
          </a:xfrm>
          <a:prstGeom prst="ellipse">
            <a:avLst/>
          </a:prstGeom>
          <a:solidFill>
            <a:srgbClr val="1C9356"/>
          </a:solidFill>
          <a:ln/>
        </p:spPr>
      </p:sp>
      <p:sp>
        <p:nvSpPr>
          <p:cNvPr id="10" name="Text 7"/>
          <p:cNvSpPr/>
          <p:nvPr/>
        </p:nvSpPr>
        <p:spPr>
          <a:xfrm>
            <a:off x="2697480" y="2331720"/>
            <a:ext cx="2011680" cy="530352"/>
          </a:xfrm>
          <a:prstGeom prst="rect">
            <a:avLst/>
          </a:prstGeom>
          <a:noFill/>
          <a:ln/>
        </p:spPr>
        <p:txBody>
          <a:bodyPr wrap="square" lIns="0" tIns="0" rIns="0" bIns="0" rtlCol="0" anchor="ctr"/>
          <a:lstStyle/>
          <a:p>
            <a:pPr indent="0" marL="0">
              <a:buNone/>
            </a:pPr>
            <a:r>
              <a:rPr lang="en-US" sz="1300" b="1" dirty="0">
                <a:solidFill>
                  <a:srgbClr val="1F262D"/>
                </a:solidFill>
                <a:latin typeface="Calibri" pitchFamily="34" charset="0"/>
                <a:ea typeface="Calibri" pitchFamily="34" charset="-122"/>
                <a:cs typeface="Calibri" pitchFamily="34" charset="-120"/>
              </a:rPr>
              <a:t>Project A</a:t>
            </a:r>
            <a:endParaRPr lang="en-US" sz="1300" dirty="0"/>
          </a:p>
        </p:txBody>
      </p:sp>
      <p:sp>
        <p:nvSpPr>
          <p:cNvPr id="11" name="Text 8"/>
          <p:cNvSpPr/>
          <p:nvPr/>
        </p:nvSpPr>
        <p:spPr>
          <a:xfrm>
            <a:off x="4663440" y="2331720"/>
            <a:ext cx="6702552" cy="530352"/>
          </a:xfrm>
          <a:prstGeom prst="rect">
            <a:avLst/>
          </a:prstGeom>
          <a:noFill/>
          <a:ln/>
        </p:spPr>
        <p:txBody>
          <a:bodyPr wrap="square" lIns="0" tIns="0" rIns="0" bIns="0" rtlCol="0" anchor="ctr"/>
          <a:lstStyle/>
          <a:p>
            <a:pPr indent="0" marL="0">
              <a:buNone/>
            </a:pPr>
            <a:r>
              <a:rPr lang="en-US" sz="1150" i="1" dirty="0">
                <a:solidFill>
                  <a:srgbClr val="5C646C"/>
                </a:solidFill>
                <a:latin typeface="Calibri" pitchFamily="34" charset="0"/>
                <a:ea typeface="Calibri" pitchFamily="34" charset="-122"/>
                <a:cs typeface="Calibri" pitchFamily="34" charset="-120"/>
              </a:rPr>
              <a:t>● kept alive while attention is elsewhere</a:t>
            </a:r>
            <a:endParaRPr lang="en-US" sz="1150" dirty="0"/>
          </a:p>
        </p:txBody>
      </p:sp>
      <p:sp>
        <p:nvSpPr>
          <p:cNvPr id="12" name="Shape 9"/>
          <p:cNvSpPr/>
          <p:nvPr/>
        </p:nvSpPr>
        <p:spPr>
          <a:xfrm flipV="1">
            <a:off x="1554480" y="3291840"/>
            <a:ext cx="548640" cy="0"/>
          </a:xfrm>
          <a:prstGeom prst="line">
            <a:avLst/>
          </a:prstGeom>
          <a:noFill/>
          <a:ln w="19050">
            <a:solidFill>
              <a:srgbClr val="DE560E"/>
            </a:solidFill>
            <a:prstDash val="solid"/>
          </a:ln>
        </p:spPr>
      </p:sp>
      <p:sp>
        <p:nvSpPr>
          <p:cNvPr id="13" name="Shape 10"/>
          <p:cNvSpPr/>
          <p:nvPr/>
        </p:nvSpPr>
        <p:spPr>
          <a:xfrm>
            <a:off x="2103120" y="3044952"/>
            <a:ext cx="9445752" cy="530352"/>
          </a:xfrm>
          <a:prstGeom prst="roundRect">
            <a:avLst>
              <a:gd name="adj" fmla="val 15517"/>
            </a:avLst>
          </a:prstGeom>
          <a:solidFill>
            <a:srgbClr val="F2F2EF"/>
          </a:solidFill>
          <a:ln w="12700">
            <a:solidFill>
              <a:srgbClr val="D6D8D3"/>
            </a:solidFill>
            <a:prstDash val="solid"/>
          </a:ln>
        </p:spPr>
      </p:sp>
      <p:sp>
        <p:nvSpPr>
          <p:cNvPr id="14" name="Shape 11"/>
          <p:cNvSpPr/>
          <p:nvPr/>
        </p:nvSpPr>
        <p:spPr>
          <a:xfrm>
            <a:off x="2377440" y="3236976"/>
            <a:ext cx="146304" cy="146304"/>
          </a:xfrm>
          <a:prstGeom prst="ellipse">
            <a:avLst/>
          </a:prstGeom>
          <a:solidFill>
            <a:srgbClr val="1C9356"/>
          </a:solidFill>
          <a:ln/>
        </p:spPr>
      </p:sp>
      <p:sp>
        <p:nvSpPr>
          <p:cNvPr id="15" name="Text 12"/>
          <p:cNvSpPr/>
          <p:nvPr/>
        </p:nvSpPr>
        <p:spPr>
          <a:xfrm>
            <a:off x="2697480" y="3044952"/>
            <a:ext cx="2011680" cy="530352"/>
          </a:xfrm>
          <a:prstGeom prst="rect">
            <a:avLst/>
          </a:prstGeom>
          <a:noFill/>
          <a:ln/>
        </p:spPr>
        <p:txBody>
          <a:bodyPr wrap="square" lIns="0" tIns="0" rIns="0" bIns="0" rtlCol="0" anchor="ctr"/>
          <a:lstStyle/>
          <a:p>
            <a:pPr indent="0" marL="0">
              <a:buNone/>
            </a:pPr>
            <a:r>
              <a:rPr lang="en-US" sz="1300" b="1" dirty="0">
                <a:solidFill>
                  <a:srgbClr val="1F262D"/>
                </a:solidFill>
                <a:latin typeface="Calibri" pitchFamily="34" charset="0"/>
                <a:ea typeface="Calibri" pitchFamily="34" charset="-122"/>
                <a:cs typeface="Calibri" pitchFamily="34" charset="-120"/>
              </a:rPr>
              <a:t>Project B</a:t>
            </a:r>
            <a:endParaRPr lang="en-US" sz="1300" dirty="0"/>
          </a:p>
        </p:txBody>
      </p:sp>
      <p:sp>
        <p:nvSpPr>
          <p:cNvPr id="16" name="Text 13"/>
          <p:cNvSpPr/>
          <p:nvPr/>
        </p:nvSpPr>
        <p:spPr>
          <a:xfrm>
            <a:off x="4663440" y="3044952"/>
            <a:ext cx="6702552" cy="530352"/>
          </a:xfrm>
          <a:prstGeom prst="rect">
            <a:avLst/>
          </a:prstGeom>
          <a:noFill/>
          <a:ln/>
        </p:spPr>
        <p:txBody>
          <a:bodyPr wrap="square" lIns="0" tIns="0" rIns="0" bIns="0" rtlCol="0" anchor="ctr"/>
          <a:lstStyle/>
          <a:p>
            <a:pPr indent="0" marL="0">
              <a:buNone/>
            </a:pPr>
            <a:r>
              <a:rPr lang="en-US" sz="1150" i="1" dirty="0">
                <a:solidFill>
                  <a:srgbClr val="5C646C"/>
                </a:solidFill>
                <a:latin typeface="Calibri" pitchFamily="34" charset="0"/>
                <a:ea typeface="Calibri" pitchFamily="34" charset="-122"/>
                <a:cs typeface="Calibri" pitchFamily="34" charset="-120"/>
              </a:rPr>
              <a:t>● kept alive while attention is elsewhere</a:t>
            </a:r>
            <a:endParaRPr lang="en-US" sz="1150" dirty="0"/>
          </a:p>
        </p:txBody>
      </p:sp>
      <p:sp>
        <p:nvSpPr>
          <p:cNvPr id="17" name="Shape 14"/>
          <p:cNvSpPr/>
          <p:nvPr/>
        </p:nvSpPr>
        <p:spPr>
          <a:xfrm>
            <a:off x="1554480" y="3291840"/>
            <a:ext cx="548640" cy="713232"/>
          </a:xfrm>
          <a:prstGeom prst="line">
            <a:avLst/>
          </a:prstGeom>
          <a:noFill/>
          <a:ln w="19050">
            <a:solidFill>
              <a:srgbClr val="DE560E"/>
            </a:solidFill>
            <a:prstDash val="solid"/>
          </a:ln>
        </p:spPr>
      </p:sp>
      <p:sp>
        <p:nvSpPr>
          <p:cNvPr id="18" name="Shape 15"/>
          <p:cNvSpPr/>
          <p:nvPr/>
        </p:nvSpPr>
        <p:spPr>
          <a:xfrm>
            <a:off x="2103120" y="3758184"/>
            <a:ext cx="9445752" cy="530352"/>
          </a:xfrm>
          <a:prstGeom prst="roundRect">
            <a:avLst>
              <a:gd name="adj" fmla="val 15517"/>
            </a:avLst>
          </a:prstGeom>
          <a:solidFill>
            <a:srgbClr val="F2F2EF"/>
          </a:solidFill>
          <a:ln w="12700">
            <a:solidFill>
              <a:srgbClr val="D6D8D3"/>
            </a:solidFill>
            <a:prstDash val="solid"/>
          </a:ln>
        </p:spPr>
      </p:sp>
      <p:sp>
        <p:nvSpPr>
          <p:cNvPr id="19" name="Shape 16"/>
          <p:cNvSpPr/>
          <p:nvPr/>
        </p:nvSpPr>
        <p:spPr>
          <a:xfrm>
            <a:off x="2377440" y="3950208"/>
            <a:ext cx="146304" cy="146304"/>
          </a:xfrm>
          <a:prstGeom prst="ellipse">
            <a:avLst/>
          </a:prstGeom>
          <a:solidFill>
            <a:srgbClr val="1C9356"/>
          </a:solidFill>
          <a:ln/>
        </p:spPr>
      </p:sp>
      <p:sp>
        <p:nvSpPr>
          <p:cNvPr id="20" name="Text 17"/>
          <p:cNvSpPr/>
          <p:nvPr/>
        </p:nvSpPr>
        <p:spPr>
          <a:xfrm>
            <a:off x="2697480" y="3758184"/>
            <a:ext cx="2011680" cy="530352"/>
          </a:xfrm>
          <a:prstGeom prst="rect">
            <a:avLst/>
          </a:prstGeom>
          <a:noFill/>
          <a:ln/>
        </p:spPr>
        <p:txBody>
          <a:bodyPr wrap="square" lIns="0" tIns="0" rIns="0" bIns="0" rtlCol="0" anchor="ctr"/>
          <a:lstStyle/>
          <a:p>
            <a:pPr indent="0" marL="0">
              <a:buNone/>
            </a:pPr>
            <a:r>
              <a:rPr lang="en-US" sz="1300" b="1" dirty="0">
                <a:solidFill>
                  <a:srgbClr val="1F262D"/>
                </a:solidFill>
                <a:latin typeface="Calibri" pitchFamily="34" charset="0"/>
                <a:ea typeface="Calibri" pitchFamily="34" charset="-122"/>
                <a:cs typeface="Calibri" pitchFamily="34" charset="-120"/>
              </a:rPr>
              <a:t>Project C</a:t>
            </a:r>
            <a:endParaRPr lang="en-US" sz="1300" dirty="0"/>
          </a:p>
        </p:txBody>
      </p:sp>
      <p:sp>
        <p:nvSpPr>
          <p:cNvPr id="21" name="Text 18"/>
          <p:cNvSpPr/>
          <p:nvPr/>
        </p:nvSpPr>
        <p:spPr>
          <a:xfrm>
            <a:off x="4663440" y="3758184"/>
            <a:ext cx="6702552" cy="530352"/>
          </a:xfrm>
          <a:prstGeom prst="rect">
            <a:avLst/>
          </a:prstGeom>
          <a:noFill/>
          <a:ln/>
        </p:spPr>
        <p:txBody>
          <a:bodyPr wrap="square" lIns="0" tIns="0" rIns="0" bIns="0" rtlCol="0" anchor="ctr"/>
          <a:lstStyle/>
          <a:p>
            <a:pPr indent="0" marL="0">
              <a:buNone/>
            </a:pPr>
            <a:r>
              <a:rPr lang="en-US" sz="1150" i="1" dirty="0">
                <a:solidFill>
                  <a:srgbClr val="5C646C"/>
                </a:solidFill>
                <a:latin typeface="Calibri" pitchFamily="34" charset="0"/>
                <a:ea typeface="Calibri" pitchFamily="34" charset="-122"/>
                <a:cs typeface="Calibri" pitchFamily="34" charset="-120"/>
              </a:rPr>
              <a:t>● kept alive while attention is elsewhere</a:t>
            </a:r>
            <a:endParaRPr lang="en-US" sz="1150" dirty="0"/>
          </a:p>
        </p:txBody>
      </p:sp>
      <p:sp>
        <p:nvSpPr>
          <p:cNvPr id="22" name="Shape 19"/>
          <p:cNvSpPr/>
          <p:nvPr/>
        </p:nvSpPr>
        <p:spPr>
          <a:xfrm>
            <a:off x="640080" y="4709160"/>
            <a:ext cx="3383280" cy="1600200"/>
          </a:xfrm>
          <a:prstGeom prst="roundRect">
            <a:avLst>
              <a:gd name="adj" fmla="val 5143"/>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23" name="Text 20"/>
          <p:cNvSpPr/>
          <p:nvPr/>
        </p:nvSpPr>
        <p:spPr>
          <a:xfrm>
            <a:off x="1005840" y="4937760"/>
            <a:ext cx="2651760" cy="548640"/>
          </a:xfrm>
          <a:prstGeom prst="rect">
            <a:avLst/>
          </a:prstGeom>
          <a:noFill/>
          <a:ln/>
        </p:spPr>
        <p:txBody>
          <a:bodyPr wrap="square" lIns="0" tIns="0" rIns="0" bIns="0" rtlCol="0" anchor="ctr"/>
          <a:lstStyle/>
          <a:p>
            <a:pPr indent="0" marL="0">
              <a:buNone/>
            </a:pPr>
            <a:r>
              <a:rPr lang="en-US" sz="2600" b="1" dirty="0">
                <a:solidFill>
                  <a:srgbClr val="DE560E"/>
                </a:solidFill>
                <a:latin typeface="Cambria" pitchFamily="34" charset="0"/>
                <a:ea typeface="Cambria" pitchFamily="34" charset="-122"/>
                <a:cs typeface="Cambria" pitchFamily="34" charset="-120"/>
              </a:rPr>
              <a:t>2–3×</a:t>
            </a:r>
            <a:endParaRPr lang="en-US" sz="2600" dirty="0"/>
          </a:p>
        </p:txBody>
      </p:sp>
      <p:sp>
        <p:nvSpPr>
          <p:cNvPr id="24" name="Text 21"/>
          <p:cNvSpPr/>
          <p:nvPr/>
        </p:nvSpPr>
        <p:spPr>
          <a:xfrm>
            <a:off x="1005840" y="5532120"/>
            <a:ext cx="2651760" cy="685800"/>
          </a:xfrm>
          <a:prstGeom prst="rect">
            <a:avLst/>
          </a:prstGeom>
          <a:noFill/>
          <a:ln/>
        </p:spPr>
        <p:txBody>
          <a:bodyPr wrap="square" lIns="0" tIns="0" rIns="0" bIns="0" rtlCol="0" anchor="t"/>
          <a:lstStyle/>
          <a:p>
            <a:pPr indent="0" marL="0">
              <a:lnSpc>
                <a:spcPct val="110000"/>
              </a:lnSpc>
              <a:buNone/>
            </a:pPr>
            <a:r>
              <a:rPr lang="en-US" sz="1250" dirty="0">
                <a:solidFill>
                  <a:srgbClr val="5C646C"/>
                </a:solidFill>
                <a:latin typeface="Calibri" pitchFamily="34" charset="0"/>
                <a:ea typeface="Calibri" pitchFamily="34" charset="-122"/>
                <a:cs typeface="Calibri" pitchFamily="34" charset="-120"/>
              </a:rPr>
              <a:t>projects per engineer, carried in parallel — the load it’s built to coordinate</a:t>
            </a:r>
            <a:endParaRPr lang="en-US" sz="1250" dirty="0"/>
          </a:p>
        </p:txBody>
      </p:sp>
      <p:sp>
        <p:nvSpPr>
          <p:cNvPr id="25" name="Shape 22"/>
          <p:cNvSpPr/>
          <p:nvPr/>
        </p:nvSpPr>
        <p:spPr>
          <a:xfrm>
            <a:off x="4480560" y="4709160"/>
            <a:ext cx="3383280" cy="1600200"/>
          </a:xfrm>
          <a:prstGeom prst="roundRect">
            <a:avLst>
              <a:gd name="adj" fmla="val 5143"/>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26" name="Text 23"/>
          <p:cNvSpPr/>
          <p:nvPr/>
        </p:nvSpPr>
        <p:spPr>
          <a:xfrm>
            <a:off x="4846320" y="4937760"/>
            <a:ext cx="2651760" cy="548640"/>
          </a:xfrm>
          <a:prstGeom prst="rect">
            <a:avLst/>
          </a:prstGeom>
          <a:noFill/>
          <a:ln/>
        </p:spPr>
        <p:txBody>
          <a:bodyPr wrap="square" lIns="0" tIns="0" rIns="0" bIns="0" rtlCol="0" anchor="ctr"/>
          <a:lstStyle/>
          <a:p>
            <a:pPr indent="0" marL="0">
              <a:buNone/>
            </a:pPr>
            <a:r>
              <a:rPr lang="en-US" sz="2600" b="1" dirty="0">
                <a:solidFill>
                  <a:srgbClr val="DE560E"/>
                </a:solidFill>
                <a:latin typeface="Cambria" pitchFamily="34" charset="0"/>
                <a:ea typeface="Cambria" pitchFamily="34" charset="-122"/>
                <a:cs typeface="Cambria" pitchFamily="34" charset="-120"/>
              </a:rPr>
              <a:t>never stall</a:t>
            </a:r>
            <a:endParaRPr lang="en-US" sz="2600" dirty="0"/>
          </a:p>
        </p:txBody>
      </p:sp>
      <p:sp>
        <p:nvSpPr>
          <p:cNvPr id="27" name="Text 24"/>
          <p:cNvSpPr/>
          <p:nvPr/>
        </p:nvSpPr>
        <p:spPr>
          <a:xfrm>
            <a:off x="4846320" y="5532120"/>
            <a:ext cx="2651760" cy="685800"/>
          </a:xfrm>
          <a:prstGeom prst="rect">
            <a:avLst/>
          </a:prstGeom>
          <a:noFill/>
          <a:ln/>
        </p:spPr>
        <p:txBody>
          <a:bodyPr wrap="square" lIns="0" tIns="0" rIns="0" bIns="0" rtlCol="0" anchor="t"/>
          <a:lstStyle/>
          <a:p>
            <a:pPr indent="0" marL="0">
              <a:lnSpc>
                <a:spcPct val="110000"/>
              </a:lnSpc>
              <a:buNone/>
            </a:pPr>
            <a:r>
              <a:rPr lang="en-US" sz="1250" dirty="0">
                <a:solidFill>
                  <a:srgbClr val="5C646C"/>
                </a:solidFill>
                <a:latin typeface="Calibri" pitchFamily="34" charset="0"/>
                <a:ea typeface="Calibri" pitchFamily="34" charset="-122"/>
                <a:cs typeface="Calibri" pitchFamily="34" charset="-120"/>
              </a:rPr>
              <a:t>loops survive context-switching; sessions resume in four words</a:t>
            </a:r>
            <a:endParaRPr lang="en-US" sz="1250" dirty="0"/>
          </a:p>
        </p:txBody>
      </p:sp>
      <p:sp>
        <p:nvSpPr>
          <p:cNvPr id="28" name="Shape 25"/>
          <p:cNvSpPr/>
          <p:nvPr/>
        </p:nvSpPr>
        <p:spPr>
          <a:xfrm>
            <a:off x="8321040" y="4709160"/>
            <a:ext cx="3383280" cy="1600200"/>
          </a:xfrm>
          <a:prstGeom prst="roundRect">
            <a:avLst>
              <a:gd name="adj" fmla="val 5143"/>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29" name="Text 26"/>
          <p:cNvSpPr/>
          <p:nvPr/>
        </p:nvSpPr>
        <p:spPr>
          <a:xfrm>
            <a:off x="8686800" y="4937760"/>
            <a:ext cx="2651760" cy="548640"/>
          </a:xfrm>
          <a:prstGeom prst="rect">
            <a:avLst/>
          </a:prstGeom>
          <a:noFill/>
          <a:ln/>
        </p:spPr>
        <p:txBody>
          <a:bodyPr wrap="square" lIns="0" tIns="0" rIns="0" bIns="0" rtlCol="0" anchor="ctr"/>
          <a:lstStyle/>
          <a:p>
            <a:pPr indent="0" marL="0">
              <a:buNone/>
            </a:pPr>
            <a:r>
              <a:rPr lang="en-US" sz="2600" b="1" dirty="0">
                <a:solidFill>
                  <a:srgbClr val="DE560E"/>
                </a:solidFill>
                <a:latin typeface="Cambria" pitchFamily="34" charset="0"/>
                <a:ea typeface="Cambria" pitchFamily="34" charset="-122"/>
                <a:cs typeface="Cambria" pitchFamily="34" charset="-120"/>
              </a:rPr>
              <a:t>per seat</a:t>
            </a:r>
            <a:endParaRPr lang="en-US" sz="2600" dirty="0"/>
          </a:p>
        </p:txBody>
      </p:sp>
      <p:sp>
        <p:nvSpPr>
          <p:cNvPr id="30" name="Text 27"/>
          <p:cNvSpPr/>
          <p:nvPr/>
        </p:nvSpPr>
        <p:spPr>
          <a:xfrm>
            <a:off x="8686800" y="5532120"/>
            <a:ext cx="2651760" cy="685800"/>
          </a:xfrm>
          <a:prstGeom prst="rect">
            <a:avLst/>
          </a:prstGeom>
          <a:noFill/>
          <a:ln/>
        </p:spPr>
        <p:txBody>
          <a:bodyPr wrap="square" lIns="0" tIns="0" rIns="0" bIns="0" rtlCol="0" anchor="t"/>
          <a:lstStyle/>
          <a:p>
            <a:pPr indent="0" marL="0">
              <a:lnSpc>
                <a:spcPct val="110000"/>
              </a:lnSpc>
              <a:buNone/>
            </a:pPr>
            <a:r>
              <a:rPr lang="en-US" sz="1250" dirty="0">
                <a:solidFill>
                  <a:srgbClr val="5C646C"/>
                </a:solidFill>
                <a:latin typeface="Calibri" pitchFamily="34" charset="0"/>
                <a:ea typeface="Calibri" pitchFamily="34" charset="-122"/>
                <a:cs typeface="Calibri" pitchFamily="34" charset="-120"/>
              </a:rPr>
              <a:t>priced against the engineer’s time — the math is the salary, not the server</a:t>
            </a:r>
            <a:endParaRPr lang="en-US" sz="1250" dirty="0"/>
          </a:p>
        </p:txBody>
      </p:sp>
      <p:sp>
        <p:nvSpPr>
          <p:cNvPr id="31" name="Text 28"/>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ANSWERING THE HARD QUESTION</a:t>
            </a:r>
            <a:endParaRPr lang="en-US" sz="1100" dirty="0"/>
          </a:p>
        </p:txBody>
      </p:sp>
      <p:sp>
        <p:nvSpPr>
          <p:cNvPr id="3" name="Text 1"/>
          <p:cNvSpPr/>
          <p:nvPr/>
        </p:nvSpPr>
        <p:spPr>
          <a:xfrm>
            <a:off x="640080" y="868680"/>
            <a:ext cx="10881360" cy="1005840"/>
          </a:xfrm>
          <a:prstGeom prst="rect">
            <a:avLst/>
          </a:prstGeom>
          <a:noFill/>
          <a:ln/>
        </p:spPr>
        <p:txBody>
          <a:bodyPr wrap="square" lIns="0" tIns="0" rIns="0" bIns="0" rtlCol="0" anchor="t"/>
          <a:lstStyle/>
          <a:p>
            <a:pPr algn="l" indent="0" marL="0">
              <a:lnSpc>
                <a:spcPct val="100000"/>
              </a:lnSpc>
              <a:buNone/>
            </a:pPr>
            <a:r>
              <a:rPr lang="en-US" sz="3000" b="1" dirty="0">
                <a:solidFill>
                  <a:srgbClr val="1F262D"/>
                </a:solidFill>
                <a:latin typeface="Cambria" pitchFamily="34" charset="0"/>
                <a:ea typeface="Cambria" pitchFamily="34" charset="-122"/>
                <a:cs typeface="Cambria" pitchFamily="34" charset="-120"/>
              </a:rPr>
              <a:t>Fifty diverse projects. Does it work out of the box?</a:t>
            </a:r>
            <a:endParaRPr lang="en-US" sz="3000" dirty="0"/>
          </a:p>
        </p:txBody>
      </p:sp>
      <p:sp>
        <p:nvSpPr>
          <p:cNvPr id="4" name="Text 2"/>
          <p:cNvSpPr/>
          <p:nvPr/>
        </p:nvSpPr>
        <p:spPr>
          <a:xfrm>
            <a:off x="640080" y="1627632"/>
            <a:ext cx="10607040" cy="365760"/>
          </a:xfrm>
          <a:prstGeom prst="rect">
            <a:avLst/>
          </a:prstGeom>
          <a:noFill/>
          <a:ln/>
        </p:spPr>
        <p:txBody>
          <a:bodyPr wrap="square" lIns="0" tIns="0" rIns="0" bIns="0" rtlCol="0" anchor="ctr"/>
          <a:lstStyle/>
          <a:p>
            <a:pPr indent="0" marL="0">
              <a:buNone/>
            </a:pPr>
            <a:r>
              <a:rPr lang="en-US" sz="1500" dirty="0">
                <a:solidFill>
                  <a:srgbClr val="5C646C"/>
                </a:solidFill>
                <a:latin typeface="Calibri" pitchFamily="34" charset="0"/>
                <a:ea typeface="Calibri" pitchFamily="34" charset="-122"/>
                <a:cs typeface="Calibri" pitchFamily="34" charset="-120"/>
              </a:rPr>
              <a:t>We don’t boil the ocean — we win the fat heads: the few capabilities almost every project needs.</a:t>
            </a:r>
            <a:endParaRPr lang="en-US" sz="1500" dirty="0"/>
          </a:p>
        </p:txBody>
      </p:sp>
      <p:sp>
        <p:nvSpPr>
          <p:cNvPr id="5" name="Shape 3"/>
          <p:cNvSpPr/>
          <p:nvPr/>
        </p:nvSpPr>
        <p:spPr>
          <a:xfrm>
            <a:off x="640080" y="2377440"/>
            <a:ext cx="5257800" cy="2514600"/>
          </a:xfrm>
          <a:prstGeom prst="roundRect">
            <a:avLst>
              <a:gd name="adj" fmla="val 3273"/>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6" name="Shape 4"/>
          <p:cNvSpPr/>
          <p:nvPr/>
        </p:nvSpPr>
        <p:spPr>
          <a:xfrm>
            <a:off x="1051560" y="2788920"/>
            <a:ext cx="731520" cy="731520"/>
          </a:xfrm>
          <a:prstGeom prst="ellipse">
            <a:avLst/>
          </a:prstGeom>
          <a:solidFill>
            <a:srgbClr val="1F262D"/>
          </a:solidFill>
          <a:ln/>
          <a:effectLst>
            <a:outerShdw sx="100000" sy="100000" kx="0" ky="0" algn="bl" rotWithShape="0" blurRad="88900" dist="38100" dir="54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1227125" y="2964485"/>
            <a:ext cx="380390" cy="380390"/>
          </a:xfrm>
          <a:prstGeom prst="rect">
            <a:avLst/>
          </a:prstGeom>
        </p:spPr>
      </p:pic>
      <p:sp>
        <p:nvSpPr>
          <p:cNvPr id="8" name="Text 5"/>
          <p:cNvSpPr/>
          <p:nvPr/>
        </p:nvSpPr>
        <p:spPr>
          <a:xfrm>
            <a:off x="1920240" y="2834640"/>
            <a:ext cx="3703320" cy="640080"/>
          </a:xfrm>
          <a:prstGeom prst="rect">
            <a:avLst/>
          </a:prstGeom>
          <a:noFill/>
          <a:ln/>
        </p:spPr>
        <p:txBody>
          <a:bodyPr wrap="square" lIns="0" tIns="0" rIns="0" bIns="0" rtlCol="0" anchor="ctr"/>
          <a:lstStyle/>
          <a:p>
            <a:pPr indent="0" marL="0">
              <a:buNone/>
            </a:pPr>
            <a:r>
              <a:rPr lang="en-US" sz="1800" b="1" dirty="0">
                <a:solidFill>
                  <a:srgbClr val="1F262D"/>
                </a:solidFill>
                <a:latin typeface="Cambria" pitchFamily="34" charset="0"/>
                <a:ea typeface="Cambria" pitchFamily="34" charset="-122"/>
                <a:cs typeface="Cambria" pitchFamily="34" charset="-120"/>
              </a:rPr>
              <a:t>Fat head one — the web</a:t>
            </a:r>
            <a:endParaRPr lang="en-US" sz="1800" dirty="0"/>
          </a:p>
        </p:txBody>
      </p:sp>
      <p:sp>
        <p:nvSpPr>
          <p:cNvPr id="9" name="Text 6"/>
          <p:cNvSpPr/>
          <p:nvPr/>
        </p:nvSpPr>
        <p:spPr>
          <a:xfrm>
            <a:off x="1051560" y="3703320"/>
            <a:ext cx="4434840" cy="1097280"/>
          </a:xfrm>
          <a:prstGeom prst="rect">
            <a:avLst/>
          </a:prstGeom>
          <a:noFill/>
          <a:ln/>
        </p:spPr>
        <p:txBody>
          <a:bodyPr wrap="square" lIns="0" tIns="0" rIns="0" bIns="0" rtlCol="0" anchor="t"/>
          <a:lstStyle/>
          <a:p>
            <a:pPr indent="0" marL="0">
              <a:lnSpc>
                <a:spcPct val="113000"/>
              </a:lnSpc>
              <a:buNone/>
            </a:pPr>
            <a:r>
              <a:rPr lang="en-US" sz="1300" dirty="0">
                <a:solidFill>
                  <a:srgbClr val="5C646C"/>
                </a:solidFill>
                <a:latin typeface="Calibri" pitchFamily="34" charset="0"/>
                <a:ea typeface="Calibri" pitchFamily="34" charset="-122"/>
                <a:cs typeface="Calibri" pitchFamily="34" charset="-120"/>
              </a:rPr>
              <a:t>Effectively every company ships a website and a web product. One generic, workspace-aware real-browser integration, contextualised per project — no per-site engineering — covers the dominant case on day one.</a:t>
            </a:r>
            <a:endParaRPr lang="en-US" sz="1300" dirty="0"/>
          </a:p>
        </p:txBody>
      </p:sp>
      <p:sp>
        <p:nvSpPr>
          <p:cNvPr id="10" name="Shape 7"/>
          <p:cNvSpPr/>
          <p:nvPr/>
        </p:nvSpPr>
        <p:spPr>
          <a:xfrm>
            <a:off x="6291072" y="2377440"/>
            <a:ext cx="5257800" cy="2514600"/>
          </a:xfrm>
          <a:prstGeom prst="roundRect">
            <a:avLst>
              <a:gd name="adj" fmla="val 3273"/>
            </a:avLst>
          </a:prstGeom>
          <a:solidFill>
            <a:srgbClr val="FFFFFF"/>
          </a:solidFill>
          <a:ln w="12700">
            <a:solidFill>
              <a:srgbClr val="D6D8D3"/>
            </a:solidFill>
            <a:prstDash val="solid"/>
          </a:ln>
          <a:effectLst>
            <a:outerShdw sx="100000" sy="100000" kx="0" ky="0" algn="bl" rotWithShape="0" blurRad="114300" dist="50800" dir="5400000">
              <a:srgbClr val="000000">
                <a:alpha val="13000"/>
              </a:srgbClr>
            </a:outerShdw>
          </a:effectLst>
        </p:spPr>
      </p:sp>
      <p:sp>
        <p:nvSpPr>
          <p:cNvPr id="11" name="Shape 8"/>
          <p:cNvSpPr/>
          <p:nvPr/>
        </p:nvSpPr>
        <p:spPr>
          <a:xfrm>
            <a:off x="6702552" y="2788920"/>
            <a:ext cx="731520" cy="731520"/>
          </a:xfrm>
          <a:prstGeom prst="ellipse">
            <a:avLst/>
          </a:prstGeom>
          <a:solidFill>
            <a:srgbClr val="DE560E"/>
          </a:solidFill>
          <a:ln/>
          <a:effectLst>
            <a:outerShdw sx="100000" sy="100000" kx="0" ky="0" algn="bl" rotWithShape="0" blurRad="88900" dist="38100" dir="5400000">
              <a:srgbClr val="000000">
                <a:alpha val="10000"/>
              </a:srgbClr>
            </a:outerShdw>
          </a:effectLst>
        </p:spPr>
      </p:sp>
      <p:pic>
        <p:nvPicPr>
          <p:cNvPr id="12" name="Image 1" descr="preencoded.png">    </p:cNvPr>
          <p:cNvPicPr>
            <a:picLocks noChangeAspect="1"/>
          </p:cNvPicPr>
          <p:nvPr/>
        </p:nvPicPr>
        <p:blipFill>
          <a:blip r:embed="rId2"/>
          <a:stretch>
            <a:fillRect/>
          </a:stretch>
        </p:blipFill>
        <p:spPr>
          <a:xfrm>
            <a:off x="6878117" y="2964485"/>
            <a:ext cx="380390" cy="380390"/>
          </a:xfrm>
          <a:prstGeom prst="rect">
            <a:avLst/>
          </a:prstGeom>
        </p:spPr>
      </p:pic>
      <p:sp>
        <p:nvSpPr>
          <p:cNvPr id="13" name="Text 9"/>
          <p:cNvSpPr/>
          <p:nvPr/>
        </p:nvSpPr>
        <p:spPr>
          <a:xfrm>
            <a:off x="7571232" y="2834640"/>
            <a:ext cx="3703320" cy="640080"/>
          </a:xfrm>
          <a:prstGeom prst="rect">
            <a:avLst/>
          </a:prstGeom>
          <a:noFill/>
          <a:ln/>
        </p:spPr>
        <p:txBody>
          <a:bodyPr wrap="square" lIns="0" tIns="0" rIns="0" bIns="0" rtlCol="0" anchor="ctr"/>
          <a:lstStyle/>
          <a:p>
            <a:pPr indent="0" marL="0">
              <a:buNone/>
            </a:pPr>
            <a:r>
              <a:rPr lang="en-US" sz="1800" b="1" dirty="0">
                <a:solidFill>
                  <a:srgbClr val="1F262D"/>
                </a:solidFill>
                <a:latin typeface="Cambria" pitchFamily="34" charset="0"/>
                <a:ea typeface="Cambria" pitchFamily="34" charset="-122"/>
                <a:cs typeface="Cambria" pitchFamily="34" charset="-120"/>
              </a:rPr>
              <a:t>Fat head two — mobile</a:t>
            </a:r>
            <a:endParaRPr lang="en-US" sz="1800" dirty="0"/>
          </a:p>
        </p:txBody>
      </p:sp>
      <p:sp>
        <p:nvSpPr>
          <p:cNvPr id="14" name="Text 10"/>
          <p:cNvSpPr/>
          <p:nvPr/>
        </p:nvSpPr>
        <p:spPr>
          <a:xfrm>
            <a:off x="6702552" y="3703320"/>
            <a:ext cx="4434840" cy="1097280"/>
          </a:xfrm>
          <a:prstGeom prst="rect">
            <a:avLst/>
          </a:prstGeom>
          <a:noFill/>
          <a:ln/>
        </p:spPr>
        <p:txBody>
          <a:bodyPr wrap="square" lIns="0" tIns="0" rIns="0" bIns="0" rtlCol="0" anchor="t"/>
          <a:lstStyle/>
          <a:p>
            <a:pPr indent="0" marL="0">
              <a:lnSpc>
                <a:spcPct val="113000"/>
              </a:lnSpc>
              <a:buNone/>
            </a:pPr>
            <a:r>
              <a:rPr lang="en-US" sz="1300" dirty="0">
                <a:solidFill>
                  <a:srgbClr val="5C646C"/>
                </a:solidFill>
                <a:latin typeface="Calibri" pitchFamily="34" charset="0"/>
                <a:ea typeface="Calibri" pitchFamily="34" charset="-122"/>
                <a:cs typeface="Calibri" pitchFamily="34" charset="-120"/>
              </a:rPr>
              <a:t>Most have a mobile app. A second integration drives an Android or iOS simulator, or a real device, the same standardised way — so mobile flows are in scope without a bespoke rig per project.</a:t>
            </a:r>
            <a:endParaRPr lang="en-US" sz="1300" dirty="0"/>
          </a:p>
        </p:txBody>
      </p:sp>
      <p:sp>
        <p:nvSpPr>
          <p:cNvPr id="15" name="Shape 11"/>
          <p:cNvSpPr/>
          <p:nvPr/>
        </p:nvSpPr>
        <p:spPr>
          <a:xfrm>
            <a:off x="640080" y="5120640"/>
            <a:ext cx="10908792" cy="1051560"/>
          </a:xfrm>
          <a:prstGeom prst="roundRect">
            <a:avLst>
              <a:gd name="adj" fmla="val 7826"/>
            </a:avLst>
          </a:prstGeom>
          <a:solidFill>
            <a:srgbClr val="FBE7DC"/>
          </a:solidFill>
          <a:ln w="12700">
            <a:solidFill>
              <a:srgbClr val="D6D8D3"/>
            </a:solidFill>
            <a:prstDash val="solid"/>
          </a:ln>
        </p:spPr>
      </p:sp>
      <p:pic>
        <p:nvPicPr>
          <p:cNvPr id="16" name="Image 2" descr="preencoded.png">    </p:cNvPr>
          <p:cNvPicPr>
            <a:picLocks noChangeAspect="1"/>
          </p:cNvPicPr>
          <p:nvPr/>
        </p:nvPicPr>
        <p:blipFill>
          <a:blip r:embed="rId3"/>
          <a:stretch>
            <a:fillRect/>
          </a:stretch>
        </p:blipFill>
        <p:spPr>
          <a:xfrm>
            <a:off x="1051560" y="5376672"/>
            <a:ext cx="457200" cy="457200"/>
          </a:xfrm>
          <a:prstGeom prst="rect">
            <a:avLst/>
          </a:prstGeom>
        </p:spPr>
      </p:pic>
      <p:sp>
        <p:nvSpPr>
          <p:cNvPr id="17" name="Text 12"/>
          <p:cNvSpPr/>
          <p:nvPr/>
        </p:nvSpPr>
        <p:spPr>
          <a:xfrm>
            <a:off x="1737360" y="5120640"/>
            <a:ext cx="9537192" cy="1051560"/>
          </a:xfrm>
          <a:prstGeom prst="rect">
            <a:avLst/>
          </a:prstGeom>
          <a:noFill/>
          <a:ln/>
        </p:spPr>
        <p:txBody>
          <a:bodyPr wrap="square" lIns="0" tIns="0" rIns="0" bIns="0" rtlCol="0" anchor="ctr"/>
          <a:lstStyle/>
          <a:p>
            <a:pPr indent="0" marL="0">
              <a:lnSpc>
                <a:spcPct val="110000"/>
              </a:lnSpc>
              <a:buNone/>
            </a:pPr>
            <a:r>
              <a:rPr lang="en-US" sz="1600" b="1" i="1" dirty="0">
                <a:solidFill>
                  <a:srgbClr val="1F262D"/>
                </a:solidFill>
                <a:latin typeface="Cambria" pitchFamily="34" charset="0"/>
                <a:ea typeface="Cambria" pitchFamily="34" charset="-122"/>
                <a:cs typeface="Cambria" pitchFamily="34" charset="-120"/>
              </a:rPr>
              <a:t>What’s left per project is configuration, not engineering</a:t>
            </a:r>
            <a:pPr indent="0" marL="0">
              <a:lnSpc>
                <a:spcPct val="110000"/>
              </a:lnSpc>
              <a:buNone/>
            </a:pPr>
            <a:r>
              <a:rPr lang="en-US" sz="1350" dirty="0">
                <a:solidFill>
                  <a:srgbClr val="B5430A"/>
                </a:solidFill>
                <a:latin typeface="Calibri" pitchFamily="34" charset="0"/>
                <a:ea typeface="Calibri" pitchFamily="34" charset="-122"/>
                <a:cs typeface="Calibri" pitchFamily="34" charset="-120"/>
              </a:rPr>
              <a:t>  —  declaring permissions, profiles and rules, not building new plumbing each time.</a:t>
            </a:r>
            <a:endParaRPr lang="en-US" sz="1350" dirty="0"/>
          </a:p>
        </p:txBody>
      </p:sp>
      <p:sp>
        <p:nvSpPr>
          <p:cNvPr id="18" name="Text 13"/>
          <p:cNvSpPr/>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A909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B20"/>
        </a:solidFill>
      </p:bgPr>
    </p:bg>
    <p:spTree>
      <p:nvGrpSpPr>
        <p:cNvPr id="1" name=""/>
        <p:cNvGrpSpPr/>
        <p:nvPr/>
      </p:nvGrpSpPr>
      <p:grpSpPr>
        <a:xfrm>
          <a:off x="0" y="0"/>
          <a:ext cx="0" cy="0"/>
          <a:chOff x="0" y="0"/>
          <a:chExt cx="0" cy="0"/>
        </a:xfrm>
      </p:grpSpPr>
      <p:sp>
        <p:nvSpPr>
          <p:cNvPr id="2" name="Shape 0"/>
          <p:cNvSpPr/>
          <p:nvPr/>
        </p:nvSpPr>
        <p:spPr>
          <a:xfrm>
            <a:off x="9144000" y="1188720"/>
            <a:ext cx="2377440" cy="2377440"/>
          </a:xfrm>
          <a:prstGeom prst="ellipse">
            <a:avLst/>
          </a:prstGeom>
          <a:ln w="15875">
            <a:solidFill>
              <a:srgbClr val="3A434C"/>
            </a:solidFill>
            <a:prstDash val="dash"/>
          </a:ln>
        </p:spPr>
      </p:sp>
      <p:sp>
        <p:nvSpPr>
          <p:cNvPr id="3" name="Shape 1"/>
          <p:cNvSpPr/>
          <p:nvPr/>
        </p:nvSpPr>
        <p:spPr>
          <a:xfrm>
            <a:off x="9761220" y="1805940"/>
            <a:ext cx="1143000" cy="1143000"/>
          </a:xfrm>
          <a:prstGeom prst="ellipse">
            <a:avLst/>
          </a:prstGeom>
          <a:solidFill>
            <a:srgbClr val="1F262D"/>
          </a:solidFill>
          <a:ln/>
          <a:effectLst>
            <a:outerShdw sx="100000" sy="100000" kx="0" ky="0" algn="bl" rotWithShape="0" blurRad="114300" dist="50800" dir="5400000">
              <a:srgbClr val="000000">
                <a:alpha val="13000"/>
              </a:srgbClr>
            </a:outerShdw>
          </a:effectLst>
        </p:spPr>
      </p:sp>
      <p:sp>
        <p:nvSpPr>
          <p:cNvPr id="4" name="Text 2"/>
          <p:cNvSpPr/>
          <p:nvPr/>
        </p:nvSpPr>
        <p:spPr>
          <a:xfrm>
            <a:off x="9761220" y="1805940"/>
            <a:ext cx="1143000" cy="114300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OPERANT</a:t>
            </a:r>
            <a:endParaRPr lang="en-US" sz="1050" dirty="0"/>
          </a:p>
        </p:txBody>
      </p:sp>
      <p:sp>
        <p:nvSpPr>
          <p:cNvPr id="5" name="Shape 3"/>
          <p:cNvSpPr/>
          <p:nvPr/>
        </p:nvSpPr>
        <p:spPr>
          <a:xfrm>
            <a:off x="10638702" y="1159825"/>
            <a:ext cx="201168" cy="201168"/>
          </a:xfrm>
          <a:prstGeom prst="ellipse">
            <a:avLst/>
          </a:prstGeom>
          <a:solidFill>
            <a:srgbClr val="DE560E"/>
          </a:solidFill>
          <a:ln w="25400">
            <a:solidFill>
              <a:srgbClr val="161B20"/>
            </a:solidFill>
            <a:prstDash val="solid"/>
          </a:ln>
        </p:spPr>
      </p:sp>
      <p:sp>
        <p:nvSpPr>
          <p:cNvPr id="6" name="Text 4"/>
          <p:cNvSpPr/>
          <p:nvPr/>
        </p:nvSpPr>
        <p:spPr>
          <a:xfrm>
            <a:off x="640080" y="822960"/>
            <a:ext cx="10058400" cy="274320"/>
          </a:xfrm>
          <a:prstGeom prst="rect">
            <a:avLst/>
          </a:prstGeom>
          <a:noFill/>
          <a:ln/>
        </p:spPr>
        <p:txBody>
          <a:bodyPr wrap="square" lIns="0" tIns="0" rIns="0" bIns="0" rtlCol="0" anchor="ctr"/>
          <a:lstStyle/>
          <a:p>
            <a:pPr algn="l" indent="0" marL="0">
              <a:buNone/>
            </a:pPr>
            <a:r>
              <a:rPr lang="en-US" sz="1100" b="1" spc="300" kern="0" dirty="0">
                <a:solidFill>
                  <a:srgbClr val="DE560E"/>
                </a:solidFill>
                <a:latin typeface="Calibri" pitchFamily="34" charset="0"/>
                <a:ea typeface="Calibri" pitchFamily="34" charset="-122"/>
                <a:cs typeface="Calibri" pitchFamily="34" charset="-120"/>
              </a:rPr>
              <a:t>THE ASK</a:t>
            </a:r>
            <a:endParaRPr lang="en-US" sz="1100" dirty="0"/>
          </a:p>
        </p:txBody>
      </p:sp>
      <p:sp>
        <p:nvSpPr>
          <p:cNvPr id="7" name="Text 5"/>
          <p:cNvSpPr/>
          <p:nvPr/>
        </p:nvSpPr>
        <p:spPr>
          <a:xfrm>
            <a:off x="640080" y="1188720"/>
            <a:ext cx="7680960" cy="1280160"/>
          </a:xfrm>
          <a:prstGeom prst="rect">
            <a:avLst/>
          </a:prstGeom>
          <a:noFill/>
          <a:ln/>
        </p:spPr>
        <p:txBody>
          <a:bodyPr wrap="square" lIns="0" tIns="0" rIns="0" bIns="0" rtlCol="0" anchor="ctr"/>
          <a:lstStyle/>
          <a:p>
            <a:pPr indent="0" marL="0">
              <a:lnSpc>
                <a:spcPct val="102000"/>
              </a:lnSpc>
              <a:buNone/>
            </a:pPr>
            <a:r>
              <a:rPr lang="en-US" sz="3400" b="1" dirty="0">
                <a:solidFill>
                  <a:srgbClr val="FFFFFF"/>
                </a:solidFill>
                <a:latin typeface="Cambria" pitchFamily="34" charset="0"/>
                <a:ea typeface="Cambria" pitchFamily="34" charset="-122"/>
                <a:cs typeface="Cambria" pitchFamily="34" charset="-120"/>
              </a:rPr>
              <a:t>A design partnership, not a procurement form.</a:t>
            </a:r>
            <a:endParaRPr lang="en-US" sz="3400" dirty="0"/>
          </a:p>
        </p:txBody>
      </p:sp>
      <p:sp>
        <p:nvSpPr>
          <p:cNvPr id="8" name="Text 6"/>
          <p:cNvSpPr/>
          <p:nvPr/>
        </p:nvSpPr>
        <p:spPr>
          <a:xfrm>
            <a:off x="640080" y="2514600"/>
            <a:ext cx="7040880" cy="1005840"/>
          </a:xfrm>
          <a:prstGeom prst="rect">
            <a:avLst/>
          </a:prstGeom>
          <a:noFill/>
          <a:ln/>
        </p:spPr>
        <p:txBody>
          <a:bodyPr wrap="square" lIns="0" tIns="0" rIns="0" bIns="0" rtlCol="0" anchor="ctr"/>
          <a:lstStyle/>
          <a:p>
            <a:pPr indent="0" marL="0">
              <a:lnSpc>
                <a:spcPct val="115000"/>
              </a:lnSpc>
              <a:buNone/>
            </a:pPr>
            <a:r>
              <a:rPr lang="en-US" sz="1500" dirty="0">
                <a:solidFill>
                  <a:srgbClr val="9AA0A6"/>
                </a:solidFill>
                <a:latin typeface="Calibri" pitchFamily="34" charset="0"/>
                <a:ea typeface="Calibri" pitchFamily="34" charset="-122"/>
                <a:cs typeface="Calibri" pitchFamily="34" charset="-120"/>
              </a:rPr>
              <a:t>A handful of seats, two or three live Lyra projects, and a short window to tune the harness against the real portfolio — the genuine browser flows, the genuine client rules.</a:t>
            </a:r>
            <a:endParaRPr lang="en-US" sz="1500" dirty="0"/>
          </a:p>
        </p:txBody>
      </p:sp>
      <p:sp>
        <p:nvSpPr>
          <p:cNvPr id="9" name="Shape 7"/>
          <p:cNvSpPr/>
          <p:nvPr/>
        </p:nvSpPr>
        <p:spPr>
          <a:xfrm>
            <a:off x="640080" y="3703320"/>
            <a:ext cx="1982419" cy="457200"/>
          </a:xfrm>
          <a:prstGeom prst="roundRect">
            <a:avLst>
              <a:gd name="adj" fmla="val 50000"/>
            </a:avLst>
          </a:prstGeom>
          <a:solidFill>
            <a:srgbClr val="1F262C"/>
          </a:solidFill>
          <a:ln w="12700">
            <a:solidFill>
              <a:srgbClr val="3A434C"/>
            </a:solidFill>
            <a:prstDash val="solid"/>
          </a:ln>
        </p:spPr>
      </p:sp>
      <p:sp>
        <p:nvSpPr>
          <p:cNvPr id="10" name="Text 8"/>
          <p:cNvSpPr/>
          <p:nvPr/>
        </p:nvSpPr>
        <p:spPr>
          <a:xfrm>
            <a:off x="640080" y="3703320"/>
            <a:ext cx="1982419" cy="457200"/>
          </a:xfrm>
          <a:prstGeom prst="rect">
            <a:avLst/>
          </a:prstGeom>
          <a:noFill/>
          <a:ln/>
        </p:spPr>
        <p:txBody>
          <a:bodyPr wrap="square" lIns="0" tIns="0" rIns="0" bIns="0" rtlCol="0" anchor="ctr"/>
          <a:lstStyle/>
          <a:p>
            <a:pPr algn="ctr" indent="0" marL="0">
              <a:buNone/>
            </a:pPr>
            <a:r>
              <a:rPr lang="en-US" sz="1250" b="1" dirty="0">
                <a:solidFill>
                  <a:srgbClr val="E7E8E4"/>
                </a:solidFill>
                <a:latin typeface="Calibri" pitchFamily="34" charset="0"/>
                <a:ea typeface="Calibri" pitchFamily="34" charset="-122"/>
                <a:cs typeface="Calibri" pitchFamily="34" charset="-120"/>
              </a:rPr>
              <a:t>5–10 seats to start</a:t>
            </a:r>
            <a:endParaRPr lang="en-US" sz="1250" dirty="0"/>
          </a:p>
        </p:txBody>
      </p:sp>
      <p:sp>
        <p:nvSpPr>
          <p:cNvPr id="11" name="Shape 9"/>
          <p:cNvSpPr/>
          <p:nvPr/>
        </p:nvSpPr>
        <p:spPr>
          <a:xfrm>
            <a:off x="2851099" y="3703320"/>
            <a:ext cx="1814170" cy="457200"/>
          </a:xfrm>
          <a:prstGeom prst="roundRect">
            <a:avLst>
              <a:gd name="adj" fmla="val 50000"/>
            </a:avLst>
          </a:prstGeom>
          <a:solidFill>
            <a:srgbClr val="1F262C"/>
          </a:solidFill>
          <a:ln w="12700">
            <a:solidFill>
              <a:srgbClr val="3A434C"/>
            </a:solidFill>
            <a:prstDash val="solid"/>
          </a:ln>
        </p:spPr>
      </p:sp>
      <p:sp>
        <p:nvSpPr>
          <p:cNvPr id="12" name="Text 10"/>
          <p:cNvSpPr/>
          <p:nvPr/>
        </p:nvSpPr>
        <p:spPr>
          <a:xfrm>
            <a:off x="2851099" y="3703320"/>
            <a:ext cx="1814170" cy="457200"/>
          </a:xfrm>
          <a:prstGeom prst="rect">
            <a:avLst/>
          </a:prstGeom>
          <a:noFill/>
          <a:ln/>
        </p:spPr>
        <p:txBody>
          <a:bodyPr wrap="square" lIns="0" tIns="0" rIns="0" bIns="0" rtlCol="0" anchor="ctr"/>
          <a:lstStyle/>
          <a:p>
            <a:pPr algn="ctr" indent="0" marL="0">
              <a:buNone/>
            </a:pPr>
            <a:r>
              <a:rPr lang="en-US" sz="1250" b="1" dirty="0">
                <a:solidFill>
                  <a:srgbClr val="E7E8E4"/>
                </a:solidFill>
                <a:latin typeface="Calibri" pitchFamily="34" charset="0"/>
                <a:ea typeface="Calibri" pitchFamily="34" charset="-122"/>
                <a:cs typeface="Calibri" pitchFamily="34" charset="-120"/>
              </a:rPr>
              <a:t>2–3 live projects</a:t>
            </a:r>
            <a:endParaRPr lang="en-US" sz="1250" dirty="0"/>
          </a:p>
        </p:txBody>
      </p:sp>
      <p:sp>
        <p:nvSpPr>
          <p:cNvPr id="13" name="Shape 11"/>
          <p:cNvSpPr/>
          <p:nvPr/>
        </p:nvSpPr>
        <p:spPr>
          <a:xfrm>
            <a:off x="4893869" y="3703320"/>
            <a:ext cx="2487168" cy="457200"/>
          </a:xfrm>
          <a:prstGeom prst="roundRect">
            <a:avLst>
              <a:gd name="adj" fmla="val 50000"/>
            </a:avLst>
          </a:prstGeom>
          <a:solidFill>
            <a:srgbClr val="1F262C"/>
          </a:solidFill>
          <a:ln w="12700">
            <a:solidFill>
              <a:srgbClr val="3A434C"/>
            </a:solidFill>
            <a:prstDash val="solid"/>
          </a:ln>
        </p:spPr>
      </p:sp>
      <p:sp>
        <p:nvSpPr>
          <p:cNvPr id="14" name="Text 12"/>
          <p:cNvSpPr/>
          <p:nvPr/>
        </p:nvSpPr>
        <p:spPr>
          <a:xfrm>
            <a:off x="4893869" y="3703320"/>
            <a:ext cx="2487168" cy="457200"/>
          </a:xfrm>
          <a:prstGeom prst="rect">
            <a:avLst/>
          </a:prstGeom>
          <a:noFill/>
          <a:ln/>
        </p:spPr>
        <p:txBody>
          <a:bodyPr wrap="square" lIns="0" tIns="0" rIns="0" bIns="0" rtlCol="0" anchor="ctr"/>
          <a:lstStyle/>
          <a:p>
            <a:pPr algn="ctr" indent="0" marL="0">
              <a:buNone/>
            </a:pPr>
            <a:r>
              <a:rPr lang="en-US" sz="1250" b="1" dirty="0">
                <a:solidFill>
                  <a:srgbClr val="E7E8E4"/>
                </a:solidFill>
                <a:latin typeface="Calibri" pitchFamily="34" charset="0"/>
                <a:ea typeface="Calibri" pitchFamily="34" charset="-122"/>
                <a:cs typeface="Calibri" pitchFamily="34" charset="-120"/>
              </a:rPr>
              <a:t>browser + mobile baked in</a:t>
            </a:r>
            <a:endParaRPr lang="en-US" sz="1250" dirty="0"/>
          </a:p>
        </p:txBody>
      </p:sp>
      <p:sp>
        <p:nvSpPr>
          <p:cNvPr id="15" name="Shape 13"/>
          <p:cNvSpPr/>
          <p:nvPr/>
        </p:nvSpPr>
        <p:spPr>
          <a:xfrm>
            <a:off x="7609637" y="3703320"/>
            <a:ext cx="2487168" cy="457200"/>
          </a:xfrm>
          <a:prstGeom prst="roundRect">
            <a:avLst>
              <a:gd name="adj" fmla="val 50000"/>
            </a:avLst>
          </a:prstGeom>
          <a:solidFill>
            <a:srgbClr val="1F262C"/>
          </a:solidFill>
          <a:ln w="12700">
            <a:solidFill>
              <a:srgbClr val="3A434C"/>
            </a:solidFill>
            <a:prstDash val="solid"/>
          </a:ln>
        </p:spPr>
      </p:sp>
      <p:sp>
        <p:nvSpPr>
          <p:cNvPr id="16" name="Text 14"/>
          <p:cNvSpPr/>
          <p:nvPr/>
        </p:nvSpPr>
        <p:spPr>
          <a:xfrm>
            <a:off x="7609637" y="3703320"/>
            <a:ext cx="2487168" cy="457200"/>
          </a:xfrm>
          <a:prstGeom prst="rect">
            <a:avLst/>
          </a:prstGeom>
          <a:noFill/>
          <a:ln/>
        </p:spPr>
        <p:txBody>
          <a:bodyPr wrap="square" lIns="0" tIns="0" rIns="0" bIns="0" rtlCol="0" anchor="ctr"/>
          <a:lstStyle/>
          <a:p>
            <a:pPr algn="ctr" indent="0" marL="0">
              <a:buNone/>
            </a:pPr>
            <a:r>
              <a:rPr lang="en-US" sz="1250" b="1" dirty="0">
                <a:solidFill>
                  <a:srgbClr val="E7E8E4"/>
                </a:solidFill>
                <a:latin typeface="Calibri" pitchFamily="34" charset="0"/>
                <a:ea typeface="Calibri" pitchFamily="34" charset="-122"/>
                <a:cs typeface="Calibri" pitchFamily="34" charset="-120"/>
              </a:rPr>
              <a:t>tuned to Lyra’s real work</a:t>
            </a:r>
            <a:endParaRPr lang="en-US" sz="1250" dirty="0"/>
          </a:p>
        </p:txBody>
      </p:sp>
      <p:sp>
        <p:nvSpPr>
          <p:cNvPr id="17" name="Text 15"/>
          <p:cNvSpPr/>
          <p:nvPr/>
        </p:nvSpPr>
        <p:spPr>
          <a:xfrm>
            <a:off x="640080" y="4709160"/>
            <a:ext cx="7040880" cy="1280160"/>
          </a:xfrm>
          <a:prstGeom prst="rect">
            <a:avLst/>
          </a:prstGeom>
          <a:noFill/>
          <a:ln/>
        </p:spPr>
        <p:txBody>
          <a:bodyPr wrap="square" lIns="0" tIns="0" rIns="0" bIns="0" rtlCol="0" anchor="ctr"/>
          <a:lstStyle/>
          <a:p>
            <a:pPr indent="0" marL="0">
              <a:lnSpc>
                <a:spcPct val="118000"/>
              </a:lnSpc>
              <a:buNone/>
            </a:pPr>
            <a:r>
              <a:rPr lang="en-US" sz="1800" i="1" dirty="0">
                <a:solidFill>
                  <a:srgbClr val="FFFFFF"/>
                </a:solidFill>
                <a:latin typeface="Cambria" pitchFamily="34" charset="0"/>
                <a:ea typeface="Cambria" pitchFamily="34" charset="-122"/>
                <a:cs typeface="Cambria" pitchFamily="34" charset="-120"/>
              </a:rPr>
              <a:t>“The destination isn’t a faster delivery team. It’s one where human attention is spent on judgment — and everything downstream of a decision simply happens.”</a:t>
            </a:r>
            <a:endParaRPr lang="en-US" sz="1800" dirty="0"/>
          </a:p>
        </p:txBody>
      </p:sp>
      <p:sp>
        <p:nvSpPr>
          <p:cNvPr id="18" name="Text 16"/>
          <p:cNvSpPr/>
          <p:nvPr/>
        </p:nvSpPr>
        <p:spPr>
          <a:xfrm>
            <a:off x="640080" y="6309360"/>
            <a:ext cx="7315200" cy="274320"/>
          </a:xfrm>
          <a:prstGeom prst="rect">
            <a:avLst/>
          </a:prstGeom>
          <a:noFill/>
          <a:ln/>
        </p:spPr>
        <p:txBody>
          <a:bodyPr wrap="square" lIns="0" tIns="0" rIns="0" bIns="0" rtlCol="0" anchor="ctr"/>
          <a:lstStyle/>
          <a:p>
            <a:pPr indent="0" marL="0">
              <a:buNone/>
            </a:pPr>
            <a:r>
              <a:rPr lang="en-US" sz="1200" b="1" dirty="0">
                <a:solidFill>
                  <a:srgbClr val="DE560E"/>
                </a:solidFill>
                <a:latin typeface="Calibri" pitchFamily="34" charset="0"/>
                <a:ea typeface="Calibri" pitchFamily="34" charset="-122"/>
                <a:cs typeface="Calibri" pitchFamily="34" charset="-120"/>
              </a:rPr>
              <a:t>operantlabs.com</a:t>
            </a:r>
            <a:pPr indent="0" marL="0">
              <a:buNone/>
            </a:pPr>
            <a:r>
              <a:rPr lang="en-US" sz="1300" i="1" dirty="0">
                <a:solidFill>
                  <a:srgbClr val="9AA0A6"/>
                </a:solidFill>
                <a:latin typeface="Cambria" pitchFamily="34" charset="0"/>
                <a:ea typeface="Cambria" pitchFamily="34" charset="-122"/>
                <a:cs typeface="Cambria" pitchFamily="34" charset="-120"/>
              </a:rPr>
              <a:t>     ·     delivery, delegated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Operant — a proposal for Lyra</dc:title>
  <dc:subject>PptxGenJS Presentation</dc:subject>
  <dc:creator>Operant</dc:creator>
  <cp:lastModifiedBy>Operant</cp:lastModifiedBy>
  <cp:revision>1</cp:revision>
  <dcterms:created xsi:type="dcterms:W3CDTF">2026-06-25T14:23:13Z</dcterms:created>
  <dcterms:modified xsi:type="dcterms:W3CDTF">2026-06-25T14:23:13Z</dcterms:modified>
</cp:coreProperties>
</file>